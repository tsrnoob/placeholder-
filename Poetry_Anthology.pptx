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ont matter" id="{dff38890-b9a4-5c4b-cb0b-45f9d18ecfe8}">
          <p14:sldIdLst>
            <p14:sldId id="256"/>
            <p14:sldId id="257"/>
          </p14:sldIdLst>
        </p14:section>
        <p14:section name="Seasons" id="{df46bb05-5148-8bf8-2b6f-8715233c72dc}">
          <p14:sldIdLst>
            <p14:sldId id="258"/>
            <p14:sldId id="259"/>
            <p14:sldId id="260"/>
            <p14:sldId id="261"/>
            <p14:sldId id="262"/>
            <p14:sldId id="263"/>
            <p14:sldId id="264"/>
            <p14:sldId id="265"/>
          </p14:sldIdLst>
        </p14:section>
        <p14:section name="Animals" id="{f2a297fa-463e-1f80-da13-b79cff9805c8}">
          <p14:sldIdLst>
            <p14:sldId id="266"/>
            <p14:sldId id="267"/>
            <p14:sldId id="268"/>
            <p14:sldId id="269"/>
          </p14:sldIdLst>
        </p14:section>
        <p14:section name="Glossary" id="{329a514e-538b-ea37-1355-5ac27e4ec4a6}">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a tree in all four seasons, or a four-season collage. Unsplash search: 'four seasons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a small leaf or branch border. Unsplash search: 'green branch white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a wide landscape photo. Unsplash search: 'rolling hills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cherry blossoms. Unsplash search: 'cherry blossom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new golden-green leaves in the sun. Unsplash search: 'new leaves spring sunlight'.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a sunny beach. Unsplash search: 'sunny beach'.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autumn leaves or an orchard, placed behind the text and darkened so the poem stays readable. Unsplash search: 'autumn orchard'.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a red maple dropping its leaves. Unsplash search: 'red maple autumn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first snow on rooftops. Unsplash search: 'snow on roof village'.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snowy woods in the evening. Unsplash search: 'snowy forest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animal tracks in snow or a dark forest. Unsplash search: 'animal tracks snow'.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a red fox in a field. Unsplash search: 'red fox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tiger close-up. Unsplash search: 'tiger face close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idea: an eagle on a cliff above the sea. Unsplash search: 'eagle cliff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background with a simple picture. Unsplash search: 'open book plain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title"/>
          <p:cNvSpPr txBox="1"/>
          <p:nvPr/>
        </p:nvSpPr>
        <p:spPr>
          <a:xfrm>
            <a:off x="640080" y="1280160"/>
            <a:ext cx="5486400" cy="2377440"/>
          </a:xfrm>
          <a:prstGeom prst="rect">
            <a:avLst/>
          </a:prstGeom>
          <a:noFill/>
          <a:ln/>
        </p:spPr>
        <p:txBody>
          <a:bodyPr wrap="square" lIns="0" tIns="0" rIns="0" bIns="0" rtlCol="0" anchor="t"/>
          <a:lstStyle/>
          <a:p>
            <a:pPr indent="0" marL="0">
              <a:buNone/>
            </a:pPr>
            <a:r>
              <a:rPr lang="en-US" sz="6000" b="1" dirty="0">
                <a:solidFill>
                  <a:schemeClr val="tx2"/>
                </a:solidFill>
                <a:latin typeface="Georgia" pitchFamily="34" charset="0"/>
                <a:ea typeface="Georgia" pitchFamily="34" charset="-122"/>
                <a:cs typeface="Georgia" pitchFamily="34" charset="-120"/>
              </a:rPr>
              <a:t>Poetry</a:t>
            </a:r>
            <a:endParaRPr lang="en-US" sz="6000" dirty="0"/>
          </a:p>
          <a:p>
            <a:pPr indent="0" marL="0">
              <a:buNone/>
            </a:pPr>
            <a:r>
              <a:rPr lang="en-US" sz="6000" b="1" dirty="0">
                <a:solidFill>
                  <a:schemeClr val="tx2"/>
                </a:solidFill>
                <a:latin typeface="Georgia" pitchFamily="34" charset="0"/>
                <a:ea typeface="Georgia" pitchFamily="34" charset="-122"/>
                <a:cs typeface="Georgia" pitchFamily="34" charset="-120"/>
              </a:rPr>
              <a:t>Anthology</a:t>
            </a:r>
            <a:endParaRPr lang="en-US" sz="6000" dirty="0"/>
          </a:p>
        </p:txBody>
      </p:sp>
      <p:sp>
        <p:nvSpPr>
          <p:cNvPr id="3" name="Cover subtitle"/>
          <p:cNvSpPr txBox="1"/>
          <p:nvPr/>
        </p:nvSpPr>
        <p:spPr>
          <a:xfrm>
            <a:off x="640080" y="3657600"/>
            <a:ext cx="5486400" cy="548640"/>
          </a:xfrm>
          <a:prstGeom prst="rect">
            <a:avLst/>
          </a:prstGeom>
          <a:noFill/>
          <a:ln/>
        </p:spPr>
        <p:txBody>
          <a:bodyPr wrap="square" lIns="0" tIns="0" rIns="0" bIns="0" rtlCol="0" anchor="ctr"/>
          <a:lstStyle/>
          <a:p>
            <a:pPr indent="0" marL="0">
              <a:buNone/>
            </a:pPr>
            <a:r>
              <a:rPr lang="en-US" sz="2600" i="1" dirty="0">
                <a:solidFill>
                  <a:schemeClr val="accent1"/>
                </a:solidFill>
                <a:latin typeface="Georgia" pitchFamily="34" charset="0"/>
                <a:ea typeface="Georgia" pitchFamily="34" charset="-122"/>
                <a:cs typeface="Georgia" pitchFamily="34" charset="-120"/>
              </a:rPr>
              <a:t>Seasons &amp; Animals</a:t>
            </a:r>
            <a:endParaRPr lang="en-US" sz="2600" dirty="0"/>
          </a:p>
        </p:txBody>
      </p:sp>
      <p:sp>
        <p:nvSpPr>
          <p:cNvPr id="4" name="Cover credits"/>
          <p:cNvSpPr txBox="1"/>
          <p:nvPr/>
        </p:nvSpPr>
        <p:spPr>
          <a:xfrm>
            <a:off x="640080" y="4846320"/>
            <a:ext cx="5486400" cy="1005840"/>
          </a:xfrm>
          <a:prstGeom prst="rect">
            <a:avLst/>
          </a:prstGeom>
          <a:noFill/>
          <a:ln/>
        </p:spPr>
        <p:txBody>
          <a:bodyPr wrap="square" lIns="0" tIns="0" rIns="0" bIns="0" rtlCol="0" anchor="t"/>
          <a:lstStyle/>
          <a:p>
            <a:pPr indent="0" marL="0">
              <a:lnSpc>
                <a:spcPct val="120000"/>
              </a:lnSpc>
              <a:buNone/>
            </a:pPr>
            <a:r>
              <a:rPr lang="en-US" sz="2000" dirty="0">
                <a:solidFill>
                  <a:schemeClr val="accent5"/>
                </a:solidFill>
                <a:latin typeface="Calibri" pitchFamily="34" charset="0"/>
                <a:ea typeface="Calibri" pitchFamily="34" charset="-122"/>
                <a:cs typeface="Calibri" pitchFamily="34" charset="-120"/>
              </a:rPr>
              <a:t>Made by </a:t>
            </a:r>
            <a:pPr indent="0" marL="0">
              <a:lnSpc>
                <a:spcPct val="120000"/>
              </a:lnSpc>
              <a:buNone/>
            </a:pPr>
            <a:r>
              <a:rPr lang="en-US" sz="2000" b="1" dirty="0">
                <a:solidFill>
                  <a:schemeClr val="tx1"/>
                </a:solidFill>
                <a:latin typeface="Calibri" pitchFamily="34" charset="0"/>
                <a:ea typeface="Calibri" pitchFamily="34" charset="-122"/>
                <a:cs typeface="Calibri" pitchFamily="34" charset="-120"/>
              </a:rPr>
              <a:t>Lanzi Wang</a:t>
            </a:r>
            <a:endParaRPr lang="en-US" sz="2000" dirty="0"/>
          </a:p>
        </p:txBody>
      </p:sp>
      <p:pic>
        <p:nvPicPr>
          <p:cNvPr id="5" name="Four seasons collage" descr="A tree in spring, summer, autumn and winter">    </p:cNvPr>
          <p:cNvPicPr>
            <a:picLocks noChangeAspect="1"/>
          </p:cNvPicPr>
          <p:nvPr/>
        </p:nvPicPr>
        <p:blipFill>
          <a:blip r:embed="rId1"/>
          <a:stretch>
            <a:fillRect/>
          </a:stretch>
        </p:blipFill>
        <p:spPr>
          <a:xfrm>
            <a:off x="6583680" y="502920"/>
            <a:ext cx="5394960" cy="5852160"/>
          </a:xfrm>
          <a:prstGeom prst="rect">
            <a:avLst/>
          </a:prstGeom>
        </p:spPr>
      </p:pic>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OC title"/>
          <p:cNvSpPr txBox="1"/>
          <p:nvPr/>
        </p:nvSpPr>
        <p:spPr>
          <a:xfrm>
            <a:off x="457200" y="365760"/>
            <a:ext cx="8046720" cy="731520"/>
          </a:xfrm>
          <a:prstGeom prst="rect">
            <a:avLst/>
          </a:prstGeom>
          <a:noFill/>
          <a:ln/>
        </p:spPr>
        <p:txBody>
          <a:bodyPr wrap="square" lIns="0" tIns="0" rIns="0" bIns="0" rtlCol="0" anchor="ctr"/>
          <a:lstStyle/>
          <a:p>
            <a:pPr indent="0" marL="0">
              <a:buNone/>
            </a:pPr>
            <a:r>
              <a:rPr lang="en-US" sz="3200" b="1" dirty="0">
                <a:solidFill>
                  <a:schemeClr val="tx2"/>
                </a:solidFill>
                <a:latin typeface="Georgia" pitchFamily="34" charset="0"/>
                <a:ea typeface="Georgia" pitchFamily="34" charset="-122"/>
                <a:cs typeface="Georgia" pitchFamily="34" charset="-120"/>
              </a:rPr>
              <a:t>Table of Contents</a:t>
            </a:r>
            <a:endParaRPr lang="en-US" sz="3200" dirty="0"/>
          </a:p>
        </p:txBody>
      </p:sp>
      <p:graphicFrame>
        <p:nvGraphicFramePr>
          <p:cNvPr id="3" name="Contents table"/>
          <p:cNvGraphicFramePr>
            <a:graphicFrameLocks noGrp="1"/>
          </p:cNvGraphicFramePr>
          <p:nvPr>
            <p:extLst>
              <p:ext uri="{D42A27DB-BD31-4B8C-83A1-F6EECF244321}">
                <p14:modId xmlns:p14="http://schemas.microsoft.com/office/powerpoint/2010/main" val="1579011935"/>
              </p:ext>
            </p:extLst>
          </p:nvPr>
        </p:nvGraphicFramePr>
        <p:xfrm>
          <a:off x="457200" y="1188720"/>
          <a:ext cx="8046720" cy="914400"/>
        </p:xfrm>
        <a:graphic>
          <a:graphicData uri="http://schemas.openxmlformats.org/drawingml/2006/table">
            <a:tbl>
              <a:tblPr/>
              <a:tblGrid>
                <a:gridCol w="7132320"/>
                <a:gridCol w="914400"/>
              </a:tblGrid>
              <a:tr h="393192">
                <a:tc>
                  <a:txBody>
                    <a:bodyPr/>
                    <a:lstStyle/>
                    <a:p>
                      <a:pPr algn="l" indent="0" marL="0">
                        <a:buNone/>
                      </a:pPr>
                      <a:r>
                        <a:rPr lang="en-US" sz="1800" b="1" dirty="0">
                          <a:solidFill>
                            <a:schemeClr val="tx2"/>
                          </a:solidFill>
                          <a:latin typeface="Calibri" pitchFamily="34" charset="0"/>
                          <a:ea typeface="Calibri" pitchFamily="34" charset="-122"/>
                          <a:cs typeface="Calibri" pitchFamily="34" charset="-120"/>
                        </a:rPr>
                        <a:t>Seasons</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b="1" dirty="0">
                          <a:solidFill>
                            <a:schemeClr val="tx2"/>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Spring Wakes Up – me</a:t>
                      </a:r>
                      <a:endParaRPr lang="en-US" sz="1800" dirty="0">
                        <a:latin typeface="Calibri" charset="0"/>
                        <a:ea typeface="Calibri" charset="0"/>
                        <a:cs typeface="Calibri" charset="0"/>
                      </a:endParaRPr>
                    </a:p>
                  </a:txBody>
                  <a:tcPr marL="36576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Nothing Gold Can Stay – Robert Frost</a:t>
                      </a:r>
                      <a:endParaRPr lang="en-US" sz="1800" dirty="0">
                        <a:latin typeface="Calibri" charset="0"/>
                        <a:ea typeface="Calibri" charset="0"/>
                        <a:cs typeface="Calibri" charset="0"/>
                      </a:endParaRPr>
                    </a:p>
                  </a:txBody>
                  <a:tcPr marL="36576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Summer Afternoon – me</a:t>
                      </a:r>
                      <a:endParaRPr lang="en-US" sz="1800" dirty="0">
                        <a:latin typeface="Calibri" charset="0"/>
                        <a:ea typeface="Calibri" charset="0"/>
                        <a:cs typeface="Calibri" charset="0"/>
                      </a:endParaRPr>
                    </a:p>
                  </a:txBody>
                  <a:tcPr marL="36576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To Autumn – John Keats</a:t>
                      </a:r>
                      <a:endParaRPr lang="en-US" sz="1800" dirty="0">
                        <a:latin typeface="Calibri" charset="0"/>
                        <a:ea typeface="Calibri" charset="0"/>
                        <a:cs typeface="Calibri" charset="0"/>
                      </a:endParaRPr>
                    </a:p>
                  </a:txBody>
                  <a:tcPr marL="36576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7</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Letting Go – me</a:t>
                      </a:r>
                      <a:endParaRPr lang="en-US" sz="1800" dirty="0">
                        <a:latin typeface="Calibri" charset="0"/>
                        <a:ea typeface="Calibri" charset="0"/>
                        <a:cs typeface="Calibri" charset="0"/>
                      </a:endParaRPr>
                    </a:p>
                  </a:txBody>
                  <a:tcPr marL="36576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Winter Haiku – me</a:t>
                      </a:r>
                      <a:endParaRPr lang="en-US" sz="1800" dirty="0">
                        <a:latin typeface="Calibri" charset="0"/>
                        <a:ea typeface="Calibri" charset="0"/>
                        <a:cs typeface="Calibri" charset="0"/>
                      </a:endParaRPr>
                    </a:p>
                  </a:txBody>
                  <a:tcPr marL="36576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9</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Stopping by Woods on a Snowy Evening – Robert Frost</a:t>
                      </a:r>
                      <a:endParaRPr lang="en-US" sz="1800" dirty="0">
                        <a:latin typeface="Calibri" charset="0"/>
                        <a:ea typeface="Calibri" charset="0"/>
                        <a:cs typeface="Calibri" charset="0"/>
                      </a:endParaRPr>
                    </a:p>
                  </a:txBody>
                  <a:tcPr marL="36576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b="1" dirty="0">
                          <a:solidFill>
                            <a:schemeClr val="accent2"/>
                          </a:solidFill>
                          <a:latin typeface="Calibri" pitchFamily="34" charset="0"/>
                          <a:ea typeface="Calibri" pitchFamily="34" charset="-122"/>
                          <a:cs typeface="Calibri" pitchFamily="34" charset="-120"/>
                        </a:rPr>
                        <a:t>Animals</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b="1" dirty="0">
                          <a:solidFill>
                            <a:schemeClr val="accent2"/>
                          </a:solidFill>
                          <a:latin typeface="Calibri" pitchFamily="34" charset="0"/>
                          <a:ea typeface="Calibri" pitchFamily="34" charset="-122"/>
                          <a:cs typeface="Calibri" pitchFamily="34" charset="-120"/>
                        </a:rPr>
                        <a:t>11</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The Fox – me</a:t>
                      </a:r>
                      <a:endParaRPr lang="en-US" sz="1800" dirty="0">
                        <a:latin typeface="Calibri" charset="0"/>
                        <a:ea typeface="Calibri" charset="0"/>
                        <a:cs typeface="Calibri" charset="0"/>
                      </a:endParaRPr>
                    </a:p>
                  </a:txBody>
                  <a:tcPr marL="36576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The Tyger – William Blake</a:t>
                      </a:r>
                      <a:endParaRPr lang="en-US" sz="1800" dirty="0">
                        <a:latin typeface="Calibri" charset="0"/>
                        <a:ea typeface="Calibri" charset="0"/>
                        <a:cs typeface="Calibri" charset="0"/>
                      </a:endParaRPr>
                    </a:p>
                  </a:txBody>
                  <a:tcPr marL="36576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13</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dirty="0">
                          <a:solidFill>
                            <a:schemeClr val="tx1"/>
                          </a:solidFill>
                          <a:latin typeface="Calibri" pitchFamily="34" charset="0"/>
                          <a:ea typeface="Calibri" pitchFamily="34" charset="-122"/>
                          <a:cs typeface="Calibri" pitchFamily="34" charset="-120"/>
                        </a:rPr>
                        <a:t>The Eagle – Alfred, Lord Tennyson</a:t>
                      </a:r>
                      <a:endParaRPr lang="en-US" sz="1800" dirty="0">
                        <a:latin typeface="Calibri" charset="0"/>
                        <a:ea typeface="Calibri" charset="0"/>
                        <a:cs typeface="Calibri" charset="0"/>
                      </a:endParaRPr>
                    </a:p>
                  </a:txBody>
                  <a:tcPr marL="36576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14</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r h="393192">
                <a:tc>
                  <a:txBody>
                    <a:bodyPr/>
                    <a:lstStyle/>
                    <a:p>
                      <a:pPr algn="l" indent="0" marL="0">
                        <a:buNone/>
                      </a:pPr>
                      <a:r>
                        <a:rPr lang="en-US" sz="1800" b="1" dirty="0">
                          <a:solidFill>
                            <a:schemeClr val="tx2"/>
                          </a:solidFill>
                          <a:latin typeface="Calibri" pitchFamily="34" charset="0"/>
                          <a:ea typeface="Calibri" pitchFamily="34" charset="-122"/>
                          <a:cs typeface="Calibri" pitchFamily="34" charset="-120"/>
                        </a:rPr>
                        <a:t>Glossary</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800" b="1" dirty="0">
                          <a:solidFill>
                            <a:schemeClr val="tx2"/>
                          </a:solidFill>
                          <a:latin typeface="Calibri" pitchFamily="34" charset="0"/>
                          <a:ea typeface="Calibri" pitchFamily="34" charset="-122"/>
                          <a:cs typeface="Calibri" pitchFamily="34" charset="-120"/>
                        </a:rPr>
                        <a:t>15</a:t>
                      </a:r>
                      <a:endParaRPr lang="en-US" sz="1800" dirty="0">
                        <a:latin typeface="Calibri" charset="0"/>
                        <a:ea typeface="Calibri" charset="0"/>
                        <a:cs typeface="Calibri" charset="0"/>
                      </a:endParaRPr>
                    </a:p>
                  </a:txBody>
                  <a:tcPr marL="91440" marR="91440" marT="18288" marB="18288" anchor="ctr">
                    <a:lnL w="0" cap="flat" cmpd="sng" algn="ctr">
                      <a:noFill/>
                    </a:lnL>
                    <a:lnR w="0" cap="flat" cmpd="sng" algn="ctr">
                      <a:noFill/>
                    </a:lnR>
                    <a:lnT w="0" cap="flat" cmpd="sng" algn="ctr">
                      <a:noFill/>
                    </a:lnT>
                    <a:lnB w="0" cap="flat" cmpd="sng" algn="ctr">
                      <a:noFill/>
                    </a:lnB>
                  </a:tcPr>
                </a:tc>
              </a:tr>
            </a:tbl>
          </a:graphicData>
        </a:graphic>
      </p:graphicFrame>
      <p:pic>
        <p:nvPicPr>
          <p:cNvPr id="4" name="Leaf branch picture" descr="A branch with green leaves">    </p:cNvPr>
          <p:cNvPicPr>
            <a:picLocks noChangeAspect="1"/>
          </p:cNvPicPr>
          <p:nvPr/>
        </p:nvPicPr>
        <p:blipFill>
          <a:blip r:embed="rId1"/>
          <a:stretch>
            <a:fillRect/>
          </a:stretch>
        </p:blipFill>
        <p:spPr>
          <a:xfrm>
            <a:off x="8778240" y="914400"/>
            <a:ext cx="2971800" cy="5120640"/>
          </a:xfrm>
          <a:prstGeom prst="rect">
            <a:avLst/>
          </a:prstGeom>
        </p:spPr>
      </p:pic>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Darken overlay"/>
          <p:cNvSpPr/>
          <p:nvPr/>
        </p:nvSpPr>
        <p:spPr>
          <a:xfrm>
            <a:off x="0" y="0"/>
            <a:ext cx="12191695" cy="6858000"/>
          </a:xfrm>
          <a:prstGeom prst="rect">
            <a:avLst/>
          </a:prstGeom>
          <a:solidFill>
            <a:srgbClr val="000000">
              <a:alpha val="45000"/>
            </a:srgbClr>
          </a:solidFill>
          <a:ln w="12700">
            <a:solidFill>
              <a:srgbClr val="000000">
                <a:alpha val="0"/>
              </a:srgbClr>
            </a:solidFill>
            <a:prstDash val="solid"/>
          </a:ln>
        </p:spPr>
      </p:sp>
      <p:sp>
        <p:nvSpPr>
          <p:cNvPr id="3" name="Section title"/>
          <p:cNvSpPr txBox="1"/>
          <p:nvPr/>
        </p:nvSpPr>
        <p:spPr>
          <a:xfrm>
            <a:off x="914400" y="2377440"/>
            <a:ext cx="10362895" cy="1280160"/>
          </a:xfrm>
          <a:prstGeom prst="rect">
            <a:avLst/>
          </a:prstGeom>
          <a:noFill/>
          <a:ln/>
        </p:spPr>
        <p:txBody>
          <a:bodyPr wrap="square"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Seasons</a:t>
            </a:r>
            <a:endParaRPr lang="en-US" sz="6000" dirty="0"/>
          </a:p>
        </p:txBody>
      </p:sp>
      <p:sp>
        <p:nvSpPr>
          <p:cNvPr id="4" name="Section subtitle"/>
          <p:cNvSpPr txBox="1"/>
          <p:nvPr/>
        </p:nvSpPr>
        <p:spPr>
          <a:xfrm>
            <a:off x="914400" y="3657600"/>
            <a:ext cx="10362895" cy="640080"/>
          </a:xfrm>
          <a:prstGeom prst="rect">
            <a:avLst/>
          </a:prstGeom>
          <a:noFill/>
          <a:ln/>
        </p:spPr>
        <p:txBody>
          <a:bodyPr wrap="square"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Spring · Summer · Autumn · Winter</a:t>
            </a:r>
            <a:endParaRPr lang="en-US" sz="24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heme label"/>
          <p:cNvSpPr txBox="1"/>
          <p:nvPr/>
        </p:nvSpPr>
        <p:spPr>
          <a:xfrm>
            <a:off x="457200" y="228600"/>
            <a:ext cx="3657600" cy="274320"/>
          </a:xfrm>
          <a:prstGeom prst="rect">
            <a:avLst/>
          </a:prstGeom>
          <a:noFill/>
          <a:ln/>
        </p:spPr>
        <p:txBody>
          <a:bodyPr wrap="square" lIns="0" tIns="0" rIns="0" bIns="0" rtlCol="0" anchor="ctr"/>
          <a:lstStyle/>
          <a:p>
            <a:pPr indent="0" marL="0">
              <a:buNone/>
            </a:pPr>
            <a:r>
              <a:rPr lang="en-US" sz="1400" b="1" spc="300" kern="0" dirty="0">
                <a:solidFill>
                  <a:schemeClr val="tx2"/>
                </a:solidFill>
                <a:latin typeface="Calibri" pitchFamily="34" charset="0"/>
                <a:ea typeface="Calibri" pitchFamily="34" charset="-122"/>
                <a:cs typeface="Calibri" pitchFamily="34" charset="-120"/>
              </a:rPr>
              <a:t>SEASONS</a:t>
            </a:r>
            <a:endParaRPr lang="en-US" sz="1400" dirty="0"/>
          </a:p>
        </p:txBody>
      </p:sp>
      <p:sp>
        <p:nvSpPr>
          <p:cNvPr id="3" name="Poem title"/>
          <p:cNvSpPr txBox="1"/>
          <p:nvPr/>
        </p:nvSpPr>
        <p:spPr>
          <a:xfrm>
            <a:off x="457200" y="457200"/>
            <a:ext cx="8046720" cy="868680"/>
          </a:xfrm>
          <a:prstGeom prst="rect">
            <a:avLst/>
          </a:prstGeom>
          <a:noFill/>
          <a:ln/>
        </p:spPr>
        <p:txBody>
          <a:bodyPr wrap="square" lIns="0" tIns="0" rIns="0" bIns="0" rtlCol="0" anchor="t"/>
          <a:lstStyle/>
          <a:p>
            <a:pPr indent="0" marL="0">
              <a:buNone/>
            </a:pPr>
            <a:r>
              <a:rPr lang="en-US" sz="2600" b="1" dirty="0">
                <a:solidFill>
                  <a:schemeClr val="tx2"/>
                </a:solidFill>
                <a:latin typeface="Georgia" pitchFamily="34" charset="0"/>
                <a:ea typeface="Georgia" pitchFamily="34" charset="-122"/>
                <a:cs typeface="Georgia" pitchFamily="34" charset="-120"/>
              </a:rPr>
              <a:t>Spring Wakes Up</a:t>
            </a:r>
            <a:endParaRPr lang="en-US" sz="2600" dirty="0"/>
          </a:p>
          <a:p>
            <a:pPr indent="0" marL="0">
              <a:buNone/>
            </a:pPr>
            <a:r>
              <a:rPr lang="en-US" sz="1800" i="1" dirty="0">
                <a:solidFill>
                  <a:schemeClr val="accent5"/>
                </a:solidFill>
                <a:latin typeface="Georgia" pitchFamily="34" charset="0"/>
                <a:ea typeface="Georgia" pitchFamily="34" charset="-122"/>
                <a:cs typeface="Georgia" pitchFamily="34" charset="-120"/>
              </a:rPr>
              <a:t>by me</a:t>
            </a:r>
            <a:endParaRPr lang="en-US" sz="2600" dirty="0"/>
          </a:p>
        </p:txBody>
      </p:sp>
      <p:sp>
        <p:nvSpPr>
          <p:cNvPr id="4" name="Spring Wakes Up text"/>
          <p:cNvSpPr txBox="1"/>
          <p:nvPr/>
        </p:nvSpPr>
        <p:spPr>
          <a:xfrm>
            <a:off x="457200" y="1371600"/>
            <a:ext cx="8046720" cy="4251960"/>
          </a:xfrm>
          <a:prstGeom prst="rect">
            <a:avLst/>
          </a:prstGeom>
          <a:noFill/>
          <a:ln/>
        </p:spPr>
        <p:txBody>
          <a:bodyPr wrap="square" lIns="0" tIns="0" rIns="0" bIns="0" rtlCol="0" anchor="t"/>
          <a:lstStyle/>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snow is gone, the ground is wet,</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mornings are still chilly yet.</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A robin sings on the garden wall,</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first green shoots are standing tall.</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trees put on their pink and white,</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days grow long, the sun grows bright.</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Everything old feels new again,</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Like the world has been washed by rain.</a:t>
            </a:r>
            <a:endParaRPr lang="en-US" sz="1800" dirty="0"/>
          </a:p>
        </p:txBody>
      </p:sp>
      <p:pic>
        <p:nvPicPr>
          <p:cNvPr id="5" name="Spring Wakes Up picture" descr="Cherry blossom tree in spring">    </p:cNvPr>
          <p:cNvPicPr>
            <a:picLocks noChangeAspect="1"/>
          </p:cNvPicPr>
          <p:nvPr/>
        </p:nvPicPr>
        <p:blipFill>
          <a:blip r:embed="rId1"/>
          <a:stretch>
            <a:fillRect/>
          </a:stretch>
        </p:blipFill>
        <p:spPr>
          <a:xfrm>
            <a:off x="8778240" y="1143000"/>
            <a:ext cx="2971800" cy="3703320"/>
          </a:xfrm>
          <a:prstGeom prst="rect">
            <a:avLst/>
          </a:prstGeom>
        </p:spPr>
      </p:pic>
      <p:sp>
        <p:nvSpPr>
          <p:cNvPr id="6" name="Dedication box"/>
          <p:cNvSpPr/>
          <p:nvPr/>
        </p:nvSpPr>
        <p:spPr>
          <a:xfrm>
            <a:off x="457200" y="5760720"/>
            <a:ext cx="11292840" cy="731520"/>
          </a:xfrm>
          <a:prstGeom prst="roundRect">
            <a:avLst>
              <a:gd name="adj" fmla="val 12500"/>
            </a:avLst>
          </a:prstGeom>
          <a:solidFill>
            <a:schemeClr val="bg2"/>
          </a:solidFill>
          <a:ln w="12700">
            <a:solidFill>
              <a:schemeClr val="bg2"/>
            </a:solidFill>
            <a:prstDash val="solid"/>
          </a:ln>
        </p:spPr>
      </p:sp>
      <p:sp>
        <p:nvSpPr>
          <p:cNvPr id="7" name="Dedication text"/>
          <p:cNvSpPr txBox="1"/>
          <p:nvPr/>
        </p:nvSpPr>
        <p:spPr>
          <a:xfrm>
            <a:off x="594360" y="5760720"/>
            <a:ext cx="11018520" cy="731520"/>
          </a:xfrm>
          <a:prstGeom prst="rect">
            <a:avLst/>
          </a:prstGeom>
          <a:noFill/>
          <a:ln/>
        </p:spPr>
        <p:txBody>
          <a:bodyPr wrap="square" lIns="635" tIns="635" rIns="635" bIns="635"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Dedication: </a:t>
            </a:r>
            <a:pPr indent="0" marL="0">
              <a:buNone/>
            </a:pPr>
            <a:r>
              <a:rPr lang="en-US" sz="1800" dirty="0">
                <a:solidFill>
                  <a:schemeClr val="tx1"/>
                </a:solidFill>
                <a:latin typeface="Calibri" pitchFamily="34" charset="0"/>
                <a:ea typeface="Calibri" pitchFamily="34" charset="-122"/>
                <a:cs typeface="Calibri" pitchFamily="34" charset="-120"/>
              </a:rPr>
              <a:t>I dedicate this poem to my mother because she is the first one out in the garden every spring.</a:t>
            </a:r>
            <a:endParaRPr lang="en-US" sz="18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heme label"/>
          <p:cNvSpPr txBox="1"/>
          <p:nvPr/>
        </p:nvSpPr>
        <p:spPr>
          <a:xfrm>
            <a:off x="457200" y="228600"/>
            <a:ext cx="3657600" cy="274320"/>
          </a:xfrm>
          <a:prstGeom prst="rect">
            <a:avLst/>
          </a:prstGeom>
          <a:noFill/>
          <a:ln/>
        </p:spPr>
        <p:txBody>
          <a:bodyPr wrap="square" lIns="0" tIns="0" rIns="0" bIns="0" rtlCol="0" anchor="ctr"/>
          <a:lstStyle/>
          <a:p>
            <a:pPr indent="0" marL="0">
              <a:buNone/>
            </a:pPr>
            <a:r>
              <a:rPr lang="en-US" sz="1400" b="1" spc="300" kern="0" dirty="0">
                <a:solidFill>
                  <a:schemeClr val="tx2"/>
                </a:solidFill>
                <a:latin typeface="Calibri" pitchFamily="34" charset="0"/>
                <a:ea typeface="Calibri" pitchFamily="34" charset="-122"/>
                <a:cs typeface="Calibri" pitchFamily="34" charset="-120"/>
              </a:rPr>
              <a:t>SEASONS</a:t>
            </a:r>
            <a:endParaRPr lang="en-US" sz="1400" dirty="0"/>
          </a:p>
        </p:txBody>
      </p:sp>
      <p:sp>
        <p:nvSpPr>
          <p:cNvPr id="3" name="Poem title"/>
          <p:cNvSpPr txBox="1"/>
          <p:nvPr/>
        </p:nvSpPr>
        <p:spPr>
          <a:xfrm>
            <a:off x="457200" y="457200"/>
            <a:ext cx="8046720" cy="868680"/>
          </a:xfrm>
          <a:prstGeom prst="rect">
            <a:avLst/>
          </a:prstGeom>
          <a:noFill/>
          <a:ln/>
        </p:spPr>
        <p:txBody>
          <a:bodyPr wrap="square" lIns="0" tIns="0" rIns="0" bIns="0" rtlCol="0" anchor="t"/>
          <a:lstStyle/>
          <a:p>
            <a:pPr indent="0" marL="0">
              <a:buNone/>
            </a:pPr>
            <a:r>
              <a:rPr lang="en-US" sz="2600" b="1" dirty="0">
                <a:solidFill>
                  <a:schemeClr val="tx2"/>
                </a:solidFill>
                <a:latin typeface="Georgia" pitchFamily="34" charset="0"/>
                <a:ea typeface="Georgia" pitchFamily="34" charset="-122"/>
                <a:cs typeface="Georgia" pitchFamily="34" charset="-120"/>
              </a:rPr>
              <a:t>Nothing Gold Can Stay</a:t>
            </a:r>
            <a:endParaRPr lang="en-US" sz="2600" dirty="0"/>
          </a:p>
          <a:p>
            <a:pPr indent="0" marL="0">
              <a:buNone/>
            </a:pPr>
            <a:r>
              <a:rPr lang="en-US" sz="1800" i="1" dirty="0">
                <a:solidFill>
                  <a:schemeClr val="accent5"/>
                </a:solidFill>
                <a:latin typeface="Georgia" pitchFamily="34" charset="0"/>
                <a:ea typeface="Georgia" pitchFamily="34" charset="-122"/>
                <a:cs typeface="Georgia" pitchFamily="34" charset="-120"/>
              </a:rPr>
              <a:t>by Robert Frost</a:t>
            </a:r>
            <a:endParaRPr lang="en-US" sz="2600" dirty="0"/>
          </a:p>
        </p:txBody>
      </p:sp>
      <p:sp>
        <p:nvSpPr>
          <p:cNvPr id="4" name="Nothing Gold Can Stay text"/>
          <p:cNvSpPr txBox="1"/>
          <p:nvPr/>
        </p:nvSpPr>
        <p:spPr>
          <a:xfrm>
            <a:off x="457200" y="1371600"/>
            <a:ext cx="8046720" cy="4251960"/>
          </a:xfrm>
          <a:prstGeom prst="rect">
            <a:avLst/>
          </a:prstGeom>
          <a:noFill/>
          <a:ln/>
        </p:spPr>
        <p:txBody>
          <a:bodyPr wrap="square" lIns="0" tIns="0" rIns="0" bIns="0" rtlCol="0" anchor="t"/>
          <a:lstStyle/>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Nature's first green is gold,</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Her hardest hue to hold.</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Her early leaf's a flower;</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But only so an hour.</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Then leaf subsides to leaf.</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So Eden sank to grief,</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So dawn goes down to day.</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Nothing gold can stay.</a:t>
            </a:r>
            <a:endParaRPr lang="en-US" sz="1800" dirty="0"/>
          </a:p>
        </p:txBody>
      </p:sp>
      <p:pic>
        <p:nvPicPr>
          <p:cNvPr id="5" name="Nothing Gold Can Stay picture" descr="Branch with golden leaves in the sun">    </p:cNvPr>
          <p:cNvPicPr>
            <a:picLocks noChangeAspect="1"/>
          </p:cNvPicPr>
          <p:nvPr/>
        </p:nvPicPr>
        <p:blipFill>
          <a:blip r:embed="rId1"/>
          <a:stretch>
            <a:fillRect/>
          </a:stretch>
        </p:blipFill>
        <p:spPr>
          <a:xfrm>
            <a:off x="8778240" y="1143000"/>
            <a:ext cx="2971800" cy="3703320"/>
          </a:xfrm>
          <a:prstGeom prst="rect">
            <a:avLst/>
          </a:prstGeom>
        </p:spPr>
      </p:pic>
      <p:sp>
        <p:nvSpPr>
          <p:cNvPr id="6" name="Dedication box"/>
          <p:cNvSpPr/>
          <p:nvPr/>
        </p:nvSpPr>
        <p:spPr>
          <a:xfrm>
            <a:off x="457200" y="5760720"/>
            <a:ext cx="11292840" cy="731520"/>
          </a:xfrm>
          <a:prstGeom prst="roundRect">
            <a:avLst>
              <a:gd name="adj" fmla="val 12500"/>
            </a:avLst>
          </a:prstGeom>
          <a:solidFill>
            <a:schemeClr val="bg2"/>
          </a:solidFill>
          <a:ln w="12700">
            <a:solidFill>
              <a:schemeClr val="bg2"/>
            </a:solidFill>
            <a:prstDash val="solid"/>
          </a:ln>
        </p:spPr>
      </p:sp>
      <p:sp>
        <p:nvSpPr>
          <p:cNvPr id="7" name="Dedication text"/>
          <p:cNvSpPr txBox="1"/>
          <p:nvPr/>
        </p:nvSpPr>
        <p:spPr>
          <a:xfrm>
            <a:off x="594360" y="5760720"/>
            <a:ext cx="11018520" cy="731520"/>
          </a:xfrm>
          <a:prstGeom prst="rect">
            <a:avLst/>
          </a:prstGeom>
          <a:noFill/>
          <a:ln/>
        </p:spPr>
        <p:txBody>
          <a:bodyPr wrap="square" lIns="635" tIns="635" rIns="635" bIns="635"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Dedication: </a:t>
            </a:r>
            <a:pPr indent="0" marL="0">
              <a:buNone/>
            </a:pPr>
            <a:r>
              <a:rPr lang="en-US" sz="1800" dirty="0">
                <a:solidFill>
                  <a:schemeClr val="tx1"/>
                </a:solidFill>
                <a:latin typeface="Calibri" pitchFamily="34" charset="0"/>
                <a:ea typeface="Calibri" pitchFamily="34" charset="-122"/>
                <a:cs typeface="Calibri" pitchFamily="34" charset="-120"/>
              </a:rPr>
              <a:t>I dedicate this poem to my best friend from primary school because our friendship was gold, even if it did not last.</a:t>
            </a:r>
            <a:endParaRPr lang="en-US" sz="18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heme label"/>
          <p:cNvSpPr txBox="1"/>
          <p:nvPr/>
        </p:nvSpPr>
        <p:spPr>
          <a:xfrm>
            <a:off x="457200" y="228600"/>
            <a:ext cx="3657600" cy="274320"/>
          </a:xfrm>
          <a:prstGeom prst="rect">
            <a:avLst/>
          </a:prstGeom>
          <a:noFill/>
          <a:ln/>
        </p:spPr>
        <p:txBody>
          <a:bodyPr wrap="square" lIns="0" tIns="0" rIns="0" bIns="0" rtlCol="0" anchor="ctr"/>
          <a:lstStyle/>
          <a:p>
            <a:pPr indent="0" marL="0">
              <a:buNone/>
            </a:pPr>
            <a:r>
              <a:rPr lang="en-US" sz="1400" b="1" spc="300" kern="0" dirty="0">
                <a:solidFill>
                  <a:schemeClr val="tx2"/>
                </a:solidFill>
                <a:latin typeface="Calibri" pitchFamily="34" charset="0"/>
                <a:ea typeface="Calibri" pitchFamily="34" charset="-122"/>
                <a:cs typeface="Calibri" pitchFamily="34" charset="-120"/>
              </a:rPr>
              <a:t>SEASONS</a:t>
            </a:r>
            <a:endParaRPr lang="en-US" sz="1400" dirty="0"/>
          </a:p>
        </p:txBody>
      </p:sp>
      <p:sp>
        <p:nvSpPr>
          <p:cNvPr id="3" name="Poem title"/>
          <p:cNvSpPr txBox="1"/>
          <p:nvPr/>
        </p:nvSpPr>
        <p:spPr>
          <a:xfrm>
            <a:off x="457200" y="457200"/>
            <a:ext cx="8046720" cy="868680"/>
          </a:xfrm>
          <a:prstGeom prst="rect">
            <a:avLst/>
          </a:prstGeom>
          <a:noFill/>
          <a:ln/>
        </p:spPr>
        <p:txBody>
          <a:bodyPr wrap="square" lIns="0" tIns="0" rIns="0" bIns="0" rtlCol="0" anchor="t"/>
          <a:lstStyle/>
          <a:p>
            <a:pPr indent="0" marL="0">
              <a:buNone/>
            </a:pPr>
            <a:r>
              <a:rPr lang="en-US" sz="2600" b="1" dirty="0">
                <a:solidFill>
                  <a:schemeClr val="tx2"/>
                </a:solidFill>
                <a:latin typeface="Georgia" pitchFamily="34" charset="0"/>
                <a:ea typeface="Georgia" pitchFamily="34" charset="-122"/>
                <a:cs typeface="Georgia" pitchFamily="34" charset="-120"/>
              </a:rPr>
              <a:t>Summer Afternoon</a:t>
            </a:r>
            <a:endParaRPr lang="en-US" sz="2600" dirty="0"/>
          </a:p>
          <a:p>
            <a:pPr indent="0" marL="0">
              <a:buNone/>
            </a:pPr>
            <a:r>
              <a:rPr lang="en-US" sz="1800" i="1" dirty="0">
                <a:solidFill>
                  <a:schemeClr val="accent5"/>
                </a:solidFill>
                <a:latin typeface="Georgia" pitchFamily="34" charset="0"/>
                <a:ea typeface="Georgia" pitchFamily="34" charset="-122"/>
                <a:cs typeface="Georgia" pitchFamily="34" charset="-120"/>
              </a:rPr>
              <a:t>by me</a:t>
            </a:r>
            <a:endParaRPr lang="en-US" sz="2600" dirty="0"/>
          </a:p>
        </p:txBody>
      </p:sp>
      <p:sp>
        <p:nvSpPr>
          <p:cNvPr id="4" name="Summer Afternoon text"/>
          <p:cNvSpPr txBox="1"/>
          <p:nvPr/>
        </p:nvSpPr>
        <p:spPr>
          <a:xfrm>
            <a:off x="457200" y="1371600"/>
            <a:ext cx="8046720" cy="4251960"/>
          </a:xfrm>
          <a:prstGeom prst="rect">
            <a:avLst/>
          </a:prstGeom>
          <a:noFill/>
          <a:ln/>
        </p:spPr>
        <p:txBody>
          <a:bodyPr wrap="square" lIns="0" tIns="0" rIns="0" bIns="0" rtlCol="0" anchor="t"/>
          <a:lstStyle/>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air is thick and slow.</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Even the dog will not get up</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from his shady spot under the table.</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Somewhere a sprinkler ticks across a lawn,</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and the ice in my glass clinks and melts</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before I can finish drinking it.</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Nobody is in a hurry.</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whole town yawns,</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waiting for the evening</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to let the cool air back in.</a:t>
            </a:r>
            <a:endParaRPr lang="en-US" sz="1800" dirty="0"/>
          </a:p>
        </p:txBody>
      </p:sp>
      <p:pic>
        <p:nvPicPr>
          <p:cNvPr id="5" name="Summer Afternoon picture" descr="Sunny beach with a parasol">    </p:cNvPr>
          <p:cNvPicPr>
            <a:picLocks noChangeAspect="1"/>
          </p:cNvPicPr>
          <p:nvPr/>
        </p:nvPicPr>
        <p:blipFill>
          <a:blip r:embed="rId1"/>
          <a:stretch>
            <a:fillRect/>
          </a:stretch>
        </p:blipFill>
        <p:spPr>
          <a:xfrm>
            <a:off x="8778240" y="1143000"/>
            <a:ext cx="2971800" cy="3703320"/>
          </a:xfrm>
          <a:prstGeom prst="rect">
            <a:avLst/>
          </a:prstGeom>
        </p:spPr>
      </p:pic>
      <p:sp>
        <p:nvSpPr>
          <p:cNvPr id="6" name="Dedication box"/>
          <p:cNvSpPr/>
          <p:nvPr/>
        </p:nvSpPr>
        <p:spPr>
          <a:xfrm>
            <a:off x="457200" y="5760720"/>
            <a:ext cx="11292840" cy="731520"/>
          </a:xfrm>
          <a:prstGeom prst="roundRect">
            <a:avLst>
              <a:gd name="adj" fmla="val 12500"/>
            </a:avLst>
          </a:prstGeom>
          <a:solidFill>
            <a:schemeClr val="bg2"/>
          </a:solidFill>
          <a:ln w="12700">
            <a:solidFill>
              <a:schemeClr val="bg2"/>
            </a:solidFill>
            <a:prstDash val="solid"/>
          </a:ln>
        </p:spPr>
      </p:sp>
      <p:sp>
        <p:nvSpPr>
          <p:cNvPr id="7" name="Dedication text"/>
          <p:cNvSpPr txBox="1"/>
          <p:nvPr/>
        </p:nvSpPr>
        <p:spPr>
          <a:xfrm>
            <a:off x="594360" y="5760720"/>
            <a:ext cx="11018520" cy="731520"/>
          </a:xfrm>
          <a:prstGeom prst="rect">
            <a:avLst/>
          </a:prstGeom>
          <a:noFill/>
          <a:ln/>
        </p:spPr>
        <p:txBody>
          <a:bodyPr wrap="square" lIns="635" tIns="635" rIns="635" bIns="635"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Dedication: </a:t>
            </a:r>
            <a:pPr indent="0" marL="0">
              <a:buNone/>
            </a:pPr>
            <a:r>
              <a:rPr lang="en-US" sz="1800" dirty="0">
                <a:solidFill>
                  <a:schemeClr val="tx1"/>
                </a:solidFill>
                <a:latin typeface="Calibri" pitchFamily="34" charset="0"/>
                <a:ea typeface="Calibri" pitchFamily="34" charset="-122"/>
                <a:cs typeface="Calibri" pitchFamily="34" charset="-120"/>
              </a:rPr>
              <a:t>I dedicate this poem to a cute dog I met because he taught me how to do nothing on a hot day.</a:t>
            </a:r>
            <a:endParaRPr lang="en-US" sz="18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Darken overlay"/>
          <p:cNvSpPr/>
          <p:nvPr/>
        </p:nvSpPr>
        <p:spPr>
          <a:xfrm>
            <a:off x="0" y="0"/>
            <a:ext cx="12191695" cy="6858000"/>
          </a:xfrm>
          <a:prstGeom prst="rect">
            <a:avLst/>
          </a:prstGeom>
          <a:solidFill>
            <a:srgbClr val="1E1208">
              <a:alpha val="70000"/>
            </a:srgbClr>
          </a:solidFill>
          <a:ln w="12700">
            <a:solidFill>
              <a:srgbClr val="1E1208">
                <a:alpha val="0"/>
              </a:srgbClr>
            </a:solidFill>
            <a:prstDash val="solid"/>
          </a:ln>
        </p:spPr>
      </p:sp>
      <p:sp>
        <p:nvSpPr>
          <p:cNvPr id="3" name="Theme label"/>
          <p:cNvSpPr txBox="1"/>
          <p:nvPr/>
        </p:nvSpPr>
        <p:spPr>
          <a:xfrm>
            <a:off x="457200" y="137160"/>
            <a:ext cx="3657600" cy="274320"/>
          </a:xfrm>
          <a:prstGeom prst="rect">
            <a:avLst/>
          </a:prstGeom>
          <a:noFill/>
          <a:ln/>
        </p:spPr>
        <p:txBody>
          <a:bodyPr wrap="square" lIns="0" tIns="0" rIns="0" bIns="0" rtlCol="0" anchor="ctr"/>
          <a:lstStyle/>
          <a:p>
            <a:pPr indent="0" marL="0">
              <a:buNone/>
            </a:pPr>
            <a:r>
              <a:rPr lang="en-US" sz="1400" b="1" spc="300" kern="0" dirty="0">
                <a:solidFill>
                  <a:srgbClr val="F6C644"/>
                </a:solidFill>
                <a:latin typeface="Calibri" pitchFamily="34" charset="0"/>
                <a:ea typeface="Calibri" pitchFamily="34" charset="-122"/>
                <a:cs typeface="Calibri" pitchFamily="34" charset="-120"/>
              </a:rPr>
              <a:t>SEASONS</a:t>
            </a:r>
            <a:endParaRPr lang="en-US" sz="1400" dirty="0"/>
          </a:p>
        </p:txBody>
      </p:sp>
      <p:sp>
        <p:nvSpPr>
          <p:cNvPr id="4" name="Poem title"/>
          <p:cNvSpPr txBox="1"/>
          <p:nvPr/>
        </p:nvSpPr>
        <p:spPr>
          <a:xfrm>
            <a:off x="457200" y="384048"/>
            <a:ext cx="11247120" cy="502920"/>
          </a:xfrm>
          <a:prstGeom prst="rect">
            <a:avLst/>
          </a:prstGeom>
          <a:noFill/>
          <a:ln/>
        </p:spPr>
        <p:txBody>
          <a:bodyPr wrap="square" lIns="0" tIns="0" rIns="0" bIns="0"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To Autumn</a:t>
            </a:r>
            <a:pPr indent="0" marL="0">
              <a:buNone/>
            </a:pPr>
            <a:r>
              <a:rPr lang="en-US" sz="1800" i="1" dirty="0">
                <a:solidFill>
                  <a:srgbClr val="F4EBDD"/>
                </a:solidFill>
                <a:latin typeface="Georgia" pitchFamily="34" charset="0"/>
                <a:ea typeface="Georgia" pitchFamily="34" charset="-122"/>
                <a:cs typeface="Georgia" pitchFamily="34" charset="-120"/>
              </a:rPr>
              <a:t>   by John Keats</a:t>
            </a:r>
            <a:endParaRPr lang="en-US" sz="2600" dirty="0"/>
          </a:p>
        </p:txBody>
      </p:sp>
      <p:sp>
        <p:nvSpPr>
          <p:cNvPr id="5" name="To Autumn text"/>
          <p:cNvSpPr txBox="1"/>
          <p:nvPr/>
        </p:nvSpPr>
        <p:spPr>
          <a:xfrm>
            <a:off x="457200" y="960120"/>
            <a:ext cx="5669280" cy="4114800"/>
          </a:xfrm>
          <a:prstGeom prst="rect">
            <a:avLst/>
          </a:prstGeom>
          <a:noFill/>
          <a:ln/>
        </p:spPr>
        <p:txBody>
          <a:bodyPr wrap="square" lIns="0" tIns="0" rIns="0" bIns="0" rtlCol="0" anchor="t"/>
          <a:lstStyle/>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Season of mists and mellow fruitfulness,</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Close bosom-friend of the maturing sun;</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Conspiring with him how to load and bless</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With fruit the vines that round the thatch-eves run;</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To bend with apples the moss'd cottage-trees,</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And fill all fruit with ripeness to the core;</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To swell the gourd, and plump the hazel shells</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With a sweet kernel; to set budding more,</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And still more, later flowers for the bees,</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Until they think warm days will never cease,</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For summer has o'er-brimm'd their clammy cells.</a:t>
            </a:r>
            <a:endParaRPr lang="en-US" sz="1800" dirty="0"/>
          </a:p>
          <a:p>
            <a:pPr indent="0" marL="0">
              <a:lnSpc>
                <a:spcPct val="85000"/>
              </a:lnSpc>
              <a:buNone/>
            </a:pPr>
            <a:r>
              <a:rPr lang="en-US" sz="900" dirty="0">
                <a:solidFill>
                  <a:srgbClr val="FFFFFF"/>
                </a:solidFill>
                <a:latin typeface="Georgia" pitchFamily="34" charset="0"/>
                <a:ea typeface="Georgia" pitchFamily="34" charset="-122"/>
                <a:cs typeface="Georgia" pitchFamily="34" charset="-120"/>
              </a:rPr>
              <a:t> </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Who hath not seen thee oft amid thy store?</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Sometimes whoever seeks abroad may find</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Thee sitting careless on a granary floor,</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Thy hair soft-lifted by the winnowing wind;</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Or on a half-reap'd furrow sound asleep,</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Drows'd with the fume of poppies, while thy hook</a:t>
            </a:r>
            <a:endParaRPr lang="en-US" sz="1800" dirty="0"/>
          </a:p>
        </p:txBody>
      </p:sp>
      <p:sp>
        <p:nvSpPr>
          <p:cNvPr id="6" name="To Autumn text"/>
          <p:cNvSpPr txBox="1"/>
          <p:nvPr/>
        </p:nvSpPr>
        <p:spPr>
          <a:xfrm>
            <a:off x="6172200" y="960120"/>
            <a:ext cx="5669280" cy="4114800"/>
          </a:xfrm>
          <a:prstGeom prst="rect">
            <a:avLst/>
          </a:prstGeom>
          <a:noFill/>
          <a:ln/>
        </p:spPr>
        <p:txBody>
          <a:bodyPr wrap="square" lIns="0" tIns="0" rIns="0" bIns="0" rtlCol="0" anchor="t"/>
          <a:lstStyle/>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Spares the next swath and all its twined flowers:</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And sometimes like a gleaner thou dost keep</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Steady thy laden head across a brook;</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Or by a cyder-press, with patient look,</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Thou watchest the last oozings hours by hours.</a:t>
            </a:r>
            <a:endParaRPr lang="en-US" sz="1800" dirty="0"/>
          </a:p>
          <a:p>
            <a:pPr indent="0" marL="0">
              <a:lnSpc>
                <a:spcPct val="85000"/>
              </a:lnSpc>
              <a:buNone/>
            </a:pPr>
            <a:r>
              <a:rPr lang="en-US" sz="900" dirty="0">
                <a:solidFill>
                  <a:srgbClr val="FFFFFF"/>
                </a:solidFill>
                <a:latin typeface="Georgia" pitchFamily="34" charset="0"/>
                <a:ea typeface="Georgia" pitchFamily="34" charset="-122"/>
                <a:cs typeface="Georgia" pitchFamily="34" charset="-120"/>
              </a:rPr>
              <a:t> </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Where are the songs of spring? Ay, where are they?</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Think not of them, thou hast thy music too,—</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While barred clouds bloom the soft-dying day,</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And touch the stubble-plains with rosy hue;</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Then in a wailful choir the small gnats mourn</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Among the river sallows, borne aloft</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Or sinking as the light wind lives or dies;</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And full-grown lambs loud bleat from hilly bourn;</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Hedge-crickets sing; and now with treble soft</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The red-breast whistles from a garden-croft;</a:t>
            </a:r>
            <a:endParaRPr lang="en-US" sz="1800" dirty="0"/>
          </a:p>
          <a:p>
            <a:pPr indent="0" marL="0">
              <a:lnSpc>
                <a:spcPct val="85000"/>
              </a:lnSpc>
              <a:buNone/>
            </a:pPr>
            <a:r>
              <a:rPr lang="en-US" sz="1800" dirty="0">
                <a:solidFill>
                  <a:srgbClr val="FFFFFF"/>
                </a:solidFill>
                <a:latin typeface="Georgia" pitchFamily="34" charset="0"/>
                <a:ea typeface="Georgia" pitchFamily="34" charset="-122"/>
                <a:cs typeface="Georgia" pitchFamily="34" charset="-120"/>
              </a:rPr>
              <a:t>And gathering swallows twitter in the skies.</a:t>
            </a:r>
            <a:endParaRPr lang="en-US" sz="1800" dirty="0"/>
          </a:p>
        </p:txBody>
      </p:sp>
      <p:sp>
        <p:nvSpPr>
          <p:cNvPr id="7" name="Response box"/>
          <p:cNvSpPr/>
          <p:nvPr/>
        </p:nvSpPr>
        <p:spPr>
          <a:xfrm>
            <a:off x="457200" y="5166360"/>
            <a:ext cx="11292840" cy="1371600"/>
          </a:xfrm>
          <a:prstGeom prst="roundRect">
            <a:avLst>
              <a:gd name="adj" fmla="val 6667"/>
            </a:avLst>
          </a:prstGeom>
          <a:solidFill>
            <a:srgbClr val="FFFFFF"/>
          </a:solidFill>
          <a:ln w="12700">
            <a:solidFill>
              <a:srgbClr val="FFFFFF"/>
            </a:solidFill>
            <a:prstDash val="solid"/>
          </a:ln>
        </p:spPr>
      </p:sp>
      <p:sp>
        <p:nvSpPr>
          <p:cNvPr id="8" name="Response text"/>
          <p:cNvSpPr txBox="1"/>
          <p:nvPr/>
        </p:nvSpPr>
        <p:spPr>
          <a:xfrm>
            <a:off x="594360" y="5166360"/>
            <a:ext cx="11018520" cy="1371600"/>
          </a:xfrm>
          <a:prstGeom prst="rect">
            <a:avLst/>
          </a:prstGeom>
          <a:noFill/>
          <a:ln/>
        </p:spPr>
        <p:txBody>
          <a:bodyPr wrap="square" lIns="635" tIns="635" rIns="635" bIns="635"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Response: </a:t>
            </a:r>
            <a:pPr indent="0" marL="0">
              <a:buNone/>
            </a:pPr>
            <a:r>
              <a:rPr lang="en-US" sz="1800" dirty="0">
                <a:solidFill>
                  <a:schemeClr val="tx1"/>
                </a:solidFill>
                <a:latin typeface="Calibri" pitchFamily="34" charset="0"/>
                <a:ea typeface="Calibri" pitchFamily="34" charset="-122"/>
                <a:cs typeface="Calibri" pitchFamily="34" charset="-120"/>
              </a:rPr>
              <a:t>This is an essential poem because it shows autumn as a time when everything is full and ripe, not just an ending. The poem feels warm and lazy because Keats describes heavy fruit, sleepy bees and a slow cider press. The poem is about accepting change because the last stanza says autumn has its own music, even when the songs of spring are over. The poem uses personification, for example autumn is “sitting careless on a granary floor” like a tired farm worker.</a:t>
            </a:r>
            <a:endParaRPr lang="en-US" sz="18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heme label"/>
          <p:cNvSpPr txBox="1"/>
          <p:nvPr/>
        </p:nvSpPr>
        <p:spPr>
          <a:xfrm>
            <a:off x="457200" y="228600"/>
            <a:ext cx="3657600" cy="274320"/>
          </a:xfrm>
          <a:prstGeom prst="rect">
            <a:avLst/>
          </a:prstGeom>
          <a:noFill/>
          <a:ln/>
        </p:spPr>
        <p:txBody>
          <a:bodyPr wrap="square" lIns="0" tIns="0" rIns="0" bIns="0" rtlCol="0" anchor="ctr"/>
          <a:lstStyle/>
          <a:p>
            <a:pPr indent="0" marL="0">
              <a:buNone/>
            </a:pPr>
            <a:r>
              <a:rPr lang="en-US" sz="1400" b="1" spc="300" kern="0" dirty="0">
                <a:solidFill>
                  <a:schemeClr val="tx2"/>
                </a:solidFill>
                <a:latin typeface="Calibri" pitchFamily="34" charset="0"/>
                <a:ea typeface="Calibri" pitchFamily="34" charset="-122"/>
                <a:cs typeface="Calibri" pitchFamily="34" charset="-120"/>
              </a:rPr>
              <a:t>SEASONS</a:t>
            </a:r>
            <a:endParaRPr lang="en-US" sz="1400" dirty="0"/>
          </a:p>
        </p:txBody>
      </p:sp>
      <p:sp>
        <p:nvSpPr>
          <p:cNvPr id="3" name="Poem title"/>
          <p:cNvSpPr txBox="1"/>
          <p:nvPr/>
        </p:nvSpPr>
        <p:spPr>
          <a:xfrm>
            <a:off x="457200" y="457200"/>
            <a:ext cx="8046720" cy="868680"/>
          </a:xfrm>
          <a:prstGeom prst="rect">
            <a:avLst/>
          </a:prstGeom>
          <a:noFill/>
          <a:ln/>
        </p:spPr>
        <p:txBody>
          <a:bodyPr wrap="square" lIns="0" tIns="0" rIns="0" bIns="0" rtlCol="0" anchor="t"/>
          <a:lstStyle/>
          <a:p>
            <a:pPr indent="0" marL="0">
              <a:buNone/>
            </a:pPr>
            <a:r>
              <a:rPr lang="en-US" sz="2600" b="1" dirty="0">
                <a:solidFill>
                  <a:schemeClr val="tx2"/>
                </a:solidFill>
                <a:latin typeface="Georgia" pitchFamily="34" charset="0"/>
                <a:ea typeface="Georgia" pitchFamily="34" charset="-122"/>
                <a:cs typeface="Georgia" pitchFamily="34" charset="-120"/>
              </a:rPr>
              <a:t>Letting Go</a:t>
            </a:r>
            <a:endParaRPr lang="en-US" sz="2600" dirty="0"/>
          </a:p>
          <a:p>
            <a:pPr indent="0" marL="0">
              <a:buNone/>
            </a:pPr>
            <a:r>
              <a:rPr lang="en-US" sz="1800" i="1" dirty="0">
                <a:solidFill>
                  <a:schemeClr val="accent5"/>
                </a:solidFill>
                <a:latin typeface="Georgia" pitchFamily="34" charset="0"/>
                <a:ea typeface="Georgia" pitchFamily="34" charset="-122"/>
                <a:cs typeface="Georgia" pitchFamily="34" charset="-120"/>
              </a:rPr>
              <a:t>by me</a:t>
            </a:r>
            <a:endParaRPr lang="en-US" sz="2600" dirty="0"/>
          </a:p>
        </p:txBody>
      </p:sp>
      <p:sp>
        <p:nvSpPr>
          <p:cNvPr id="4" name="Letting Go text"/>
          <p:cNvSpPr txBox="1"/>
          <p:nvPr/>
        </p:nvSpPr>
        <p:spPr>
          <a:xfrm>
            <a:off x="457200" y="1371600"/>
            <a:ext cx="8046720" cy="3520440"/>
          </a:xfrm>
          <a:prstGeom prst="rect">
            <a:avLst/>
          </a:prstGeom>
          <a:noFill/>
          <a:ln/>
        </p:spPr>
        <p:txBody>
          <a:bodyPr wrap="square" lIns="0" tIns="0" rIns="0" bIns="0" rtlCol="0" anchor="t"/>
          <a:lstStyle/>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maple on our street is red,</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It drops its leaves like words unsaid.</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They crunch and scatter down the lane,</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Then soften in the autumn rain.</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tree stands bare but does not mind,</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It leaves the summer far behind.</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It knows that losing is not the end,</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Just a season it has to spend.</a:t>
            </a:r>
            <a:endParaRPr lang="en-US" sz="1800" dirty="0"/>
          </a:p>
        </p:txBody>
      </p:sp>
      <p:pic>
        <p:nvPicPr>
          <p:cNvPr id="5" name="Letting Go picture" descr="Red maple tree dropping its leaves">    </p:cNvPr>
          <p:cNvPicPr>
            <a:picLocks noChangeAspect="1"/>
          </p:cNvPicPr>
          <p:nvPr/>
        </p:nvPicPr>
        <p:blipFill>
          <a:blip r:embed="rId1"/>
          <a:stretch>
            <a:fillRect/>
          </a:stretch>
        </p:blipFill>
        <p:spPr>
          <a:xfrm>
            <a:off x="8778240" y="1143000"/>
            <a:ext cx="2971800" cy="3703320"/>
          </a:xfrm>
          <a:prstGeom prst="rect">
            <a:avLst/>
          </a:prstGeom>
        </p:spPr>
      </p:pic>
      <p:sp>
        <p:nvSpPr>
          <p:cNvPr id="6" name="Response box"/>
          <p:cNvSpPr/>
          <p:nvPr/>
        </p:nvSpPr>
        <p:spPr>
          <a:xfrm>
            <a:off x="457200" y="5074920"/>
            <a:ext cx="11292840" cy="1417320"/>
          </a:xfrm>
          <a:prstGeom prst="roundRect">
            <a:avLst>
              <a:gd name="adj" fmla="val 6452"/>
            </a:avLst>
          </a:prstGeom>
          <a:solidFill>
            <a:schemeClr val="bg2"/>
          </a:solidFill>
          <a:ln w="12700">
            <a:solidFill>
              <a:schemeClr val="bg2"/>
            </a:solidFill>
            <a:prstDash val="solid"/>
          </a:ln>
        </p:spPr>
      </p:sp>
      <p:sp>
        <p:nvSpPr>
          <p:cNvPr id="7" name="Response text"/>
          <p:cNvSpPr txBox="1"/>
          <p:nvPr/>
        </p:nvSpPr>
        <p:spPr>
          <a:xfrm>
            <a:off x="594360" y="5074920"/>
            <a:ext cx="11018520" cy="1417320"/>
          </a:xfrm>
          <a:prstGeom prst="rect">
            <a:avLst/>
          </a:prstGeom>
          <a:noFill/>
          <a:ln/>
        </p:spPr>
        <p:txBody>
          <a:bodyPr wrap="square" lIns="635" tIns="635" rIns="635" bIns="635"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Response: </a:t>
            </a:r>
            <a:pPr indent="0" marL="0">
              <a:buNone/>
            </a:pPr>
            <a:r>
              <a:rPr lang="en-US" sz="1800" dirty="0">
                <a:solidFill>
                  <a:schemeClr val="tx1"/>
                </a:solidFill>
                <a:latin typeface="Calibri" pitchFamily="34" charset="0"/>
                <a:ea typeface="Calibri" pitchFamily="34" charset="-122"/>
                <a:cs typeface="Calibri" pitchFamily="34" charset="-120"/>
              </a:rPr>
              <a:t>This is an essential poem because it takes something ordinary, a tree losing its leaves, and turns it into a lesson about letting go. The poem feels calm and a little sad because the leaves are compared to “words unsaid”. The poem is about accepting loss because the tree does not fight the season, it just waits for the next one. The poem uses an AABB rhyme scheme, for example “red / unsaid” and “lane / rain”, which gives it a steady, gentle rhythm.</a:t>
            </a:r>
            <a:endParaRPr lang="en-US" sz="18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heme label"/>
          <p:cNvSpPr txBox="1"/>
          <p:nvPr/>
        </p:nvSpPr>
        <p:spPr>
          <a:xfrm>
            <a:off x="457200" y="228600"/>
            <a:ext cx="3657600" cy="274320"/>
          </a:xfrm>
          <a:prstGeom prst="rect">
            <a:avLst/>
          </a:prstGeom>
          <a:noFill/>
          <a:ln/>
        </p:spPr>
        <p:txBody>
          <a:bodyPr wrap="square" lIns="0" tIns="0" rIns="0" bIns="0" rtlCol="0" anchor="ctr"/>
          <a:lstStyle/>
          <a:p>
            <a:pPr indent="0" marL="0">
              <a:buNone/>
            </a:pPr>
            <a:r>
              <a:rPr lang="en-US" sz="1400" b="1" spc="300" kern="0" dirty="0">
                <a:solidFill>
                  <a:schemeClr val="tx2"/>
                </a:solidFill>
                <a:latin typeface="Calibri" pitchFamily="34" charset="0"/>
                <a:ea typeface="Calibri" pitchFamily="34" charset="-122"/>
                <a:cs typeface="Calibri" pitchFamily="34" charset="-120"/>
              </a:rPr>
              <a:t>SEASONS</a:t>
            </a:r>
            <a:endParaRPr lang="en-US" sz="1400" dirty="0"/>
          </a:p>
        </p:txBody>
      </p:sp>
      <p:sp>
        <p:nvSpPr>
          <p:cNvPr id="3" name="Poem title"/>
          <p:cNvSpPr txBox="1"/>
          <p:nvPr/>
        </p:nvSpPr>
        <p:spPr>
          <a:xfrm>
            <a:off x="457200" y="457200"/>
            <a:ext cx="8046720" cy="868680"/>
          </a:xfrm>
          <a:prstGeom prst="rect">
            <a:avLst/>
          </a:prstGeom>
          <a:noFill/>
          <a:ln/>
        </p:spPr>
        <p:txBody>
          <a:bodyPr wrap="square" lIns="0" tIns="0" rIns="0" bIns="0" rtlCol="0" anchor="t"/>
          <a:lstStyle/>
          <a:p>
            <a:pPr indent="0" marL="0">
              <a:buNone/>
            </a:pPr>
            <a:r>
              <a:rPr lang="en-US" sz="2600" b="1" dirty="0">
                <a:solidFill>
                  <a:schemeClr val="tx2"/>
                </a:solidFill>
                <a:latin typeface="Georgia" pitchFamily="34" charset="0"/>
                <a:ea typeface="Georgia" pitchFamily="34" charset="-122"/>
                <a:cs typeface="Georgia" pitchFamily="34" charset="-120"/>
              </a:rPr>
              <a:t>Winter Haiku</a:t>
            </a:r>
            <a:endParaRPr lang="en-US" sz="2600" dirty="0"/>
          </a:p>
          <a:p>
            <a:pPr indent="0" marL="0">
              <a:buNone/>
            </a:pPr>
            <a:r>
              <a:rPr lang="en-US" sz="1800" i="1" dirty="0">
                <a:solidFill>
                  <a:schemeClr val="accent5"/>
                </a:solidFill>
                <a:latin typeface="Georgia" pitchFamily="34" charset="0"/>
                <a:ea typeface="Georgia" pitchFamily="34" charset="-122"/>
                <a:cs typeface="Georgia" pitchFamily="34" charset="-120"/>
              </a:rPr>
              <a:t>by me</a:t>
            </a:r>
            <a:endParaRPr lang="en-US" sz="2600" dirty="0"/>
          </a:p>
        </p:txBody>
      </p:sp>
      <p:sp>
        <p:nvSpPr>
          <p:cNvPr id="4" name="Winter Haiku text"/>
          <p:cNvSpPr txBox="1"/>
          <p:nvPr/>
        </p:nvSpPr>
        <p:spPr>
          <a:xfrm>
            <a:off x="457200" y="1371600"/>
            <a:ext cx="8046720" cy="4251960"/>
          </a:xfrm>
          <a:prstGeom prst="rect">
            <a:avLst/>
          </a:prstGeom>
          <a:noFill/>
          <a:ln/>
        </p:spPr>
        <p:txBody>
          <a:bodyPr wrap="square" lIns="0" tIns="0" rIns="0" bIns="0" rtlCol="0" anchor="t"/>
          <a:lstStyle/>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First snow on the roof —</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street goes quiet, as if</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town holds its breath.</a:t>
            </a:r>
            <a:endParaRPr lang="en-US" sz="1800" dirty="0"/>
          </a:p>
          <a:p>
            <a:pPr indent="0" marL="0">
              <a:lnSpc>
                <a:spcPct val="100000"/>
              </a:lnSpc>
              <a:buNone/>
            </a:pPr>
            <a:r>
              <a:rPr lang="en-US" sz="900" dirty="0">
                <a:solidFill>
                  <a:schemeClr val="tx1"/>
                </a:solidFill>
                <a:latin typeface="Georgia" pitchFamily="34" charset="0"/>
                <a:ea typeface="Georgia" pitchFamily="34" charset="-122"/>
                <a:cs typeface="Georgia" pitchFamily="34" charset="-120"/>
              </a:rPr>
              <a:t> </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Bare branches at dusk —</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a crow lands, shakes off the cold,</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and the snow falls down.</a:t>
            </a:r>
            <a:endParaRPr lang="en-US" sz="1800" dirty="0"/>
          </a:p>
          <a:p>
            <a:pPr indent="0" marL="0">
              <a:lnSpc>
                <a:spcPct val="100000"/>
              </a:lnSpc>
              <a:buNone/>
            </a:pPr>
            <a:r>
              <a:rPr lang="en-US" sz="900" dirty="0">
                <a:solidFill>
                  <a:schemeClr val="tx1"/>
                </a:solidFill>
                <a:latin typeface="Georgia" pitchFamily="34" charset="0"/>
                <a:ea typeface="Georgia" pitchFamily="34" charset="-122"/>
                <a:cs typeface="Georgia" pitchFamily="34" charset="-120"/>
              </a:rPr>
              <a:t> </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Footprints in fresh snow</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lead from my door to the gate</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and then disappear.</a:t>
            </a:r>
            <a:endParaRPr lang="en-US" sz="1800" dirty="0"/>
          </a:p>
        </p:txBody>
      </p:sp>
      <p:pic>
        <p:nvPicPr>
          <p:cNvPr id="5" name="Winter Haiku picture" descr="Snow falling on a small house and a bare tree">    </p:cNvPr>
          <p:cNvPicPr>
            <a:picLocks noChangeAspect="1"/>
          </p:cNvPicPr>
          <p:nvPr/>
        </p:nvPicPr>
        <p:blipFill>
          <a:blip r:embed="rId1"/>
          <a:stretch>
            <a:fillRect/>
          </a:stretch>
        </p:blipFill>
        <p:spPr>
          <a:xfrm>
            <a:off x="8778240" y="1143000"/>
            <a:ext cx="2971800" cy="3703320"/>
          </a:xfrm>
          <a:prstGeom prst="rect">
            <a:avLst/>
          </a:prstGeom>
        </p:spPr>
      </p:pic>
      <p:sp>
        <p:nvSpPr>
          <p:cNvPr id="6" name="Dedication box"/>
          <p:cNvSpPr/>
          <p:nvPr/>
        </p:nvSpPr>
        <p:spPr>
          <a:xfrm>
            <a:off x="457200" y="5760720"/>
            <a:ext cx="11292840" cy="731520"/>
          </a:xfrm>
          <a:prstGeom prst="roundRect">
            <a:avLst>
              <a:gd name="adj" fmla="val 12500"/>
            </a:avLst>
          </a:prstGeom>
          <a:solidFill>
            <a:schemeClr val="bg2"/>
          </a:solidFill>
          <a:ln w="12700">
            <a:solidFill>
              <a:schemeClr val="bg2"/>
            </a:solidFill>
            <a:prstDash val="solid"/>
          </a:ln>
        </p:spPr>
      </p:sp>
      <p:sp>
        <p:nvSpPr>
          <p:cNvPr id="7" name="Dedication text"/>
          <p:cNvSpPr txBox="1"/>
          <p:nvPr/>
        </p:nvSpPr>
        <p:spPr>
          <a:xfrm>
            <a:off x="594360" y="5760720"/>
            <a:ext cx="11018520" cy="731520"/>
          </a:xfrm>
          <a:prstGeom prst="rect">
            <a:avLst/>
          </a:prstGeom>
          <a:noFill/>
          <a:ln/>
        </p:spPr>
        <p:txBody>
          <a:bodyPr wrap="square" lIns="635" tIns="635" rIns="635" bIns="635"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Dedication: </a:t>
            </a:r>
            <a:pPr indent="0" marL="0">
              <a:buNone/>
            </a:pPr>
            <a:r>
              <a:rPr lang="en-US" sz="1800" dirty="0">
                <a:solidFill>
                  <a:schemeClr val="tx1"/>
                </a:solidFill>
                <a:latin typeface="Calibri" pitchFamily="34" charset="0"/>
                <a:ea typeface="Calibri" pitchFamily="34" charset="-122"/>
                <a:cs typeface="Calibri" pitchFamily="34" charset="-120"/>
              </a:rPr>
              <a:t>I dedicate these haiku to my little brother because he still thinks the first snow is magic.</a:t>
            </a:r>
            <a:endParaRPr lang="en-US" sz="18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heme label"/>
          <p:cNvSpPr txBox="1"/>
          <p:nvPr/>
        </p:nvSpPr>
        <p:spPr>
          <a:xfrm>
            <a:off x="457200" y="228600"/>
            <a:ext cx="3657600" cy="274320"/>
          </a:xfrm>
          <a:prstGeom prst="rect">
            <a:avLst/>
          </a:prstGeom>
          <a:noFill/>
          <a:ln/>
        </p:spPr>
        <p:txBody>
          <a:bodyPr wrap="square" lIns="0" tIns="0" rIns="0" bIns="0" rtlCol="0" anchor="ctr"/>
          <a:lstStyle/>
          <a:p>
            <a:pPr indent="0" marL="0">
              <a:buNone/>
            </a:pPr>
            <a:r>
              <a:rPr lang="en-US" sz="1400" b="1" spc="300" kern="0" dirty="0">
                <a:solidFill>
                  <a:schemeClr val="tx2"/>
                </a:solidFill>
                <a:latin typeface="Calibri" pitchFamily="34" charset="0"/>
                <a:ea typeface="Calibri" pitchFamily="34" charset="-122"/>
                <a:cs typeface="Calibri" pitchFamily="34" charset="-120"/>
              </a:rPr>
              <a:t>SEASONS</a:t>
            </a:r>
            <a:endParaRPr lang="en-US" sz="1400" dirty="0"/>
          </a:p>
        </p:txBody>
      </p:sp>
      <p:sp>
        <p:nvSpPr>
          <p:cNvPr id="3" name="Poem title"/>
          <p:cNvSpPr txBox="1"/>
          <p:nvPr/>
        </p:nvSpPr>
        <p:spPr>
          <a:xfrm>
            <a:off x="457200" y="457200"/>
            <a:ext cx="8046720" cy="868680"/>
          </a:xfrm>
          <a:prstGeom prst="rect">
            <a:avLst/>
          </a:prstGeom>
          <a:noFill/>
          <a:ln/>
        </p:spPr>
        <p:txBody>
          <a:bodyPr wrap="square" lIns="0" tIns="0" rIns="0" bIns="0" rtlCol="0" anchor="t"/>
          <a:lstStyle/>
          <a:p>
            <a:pPr indent="0" marL="0">
              <a:buNone/>
            </a:pPr>
            <a:r>
              <a:rPr lang="en-US" sz="2600" b="1" dirty="0">
                <a:solidFill>
                  <a:schemeClr val="tx2"/>
                </a:solidFill>
                <a:latin typeface="Georgia" pitchFamily="34" charset="0"/>
                <a:ea typeface="Georgia" pitchFamily="34" charset="-122"/>
                <a:cs typeface="Georgia" pitchFamily="34" charset="-120"/>
              </a:rPr>
              <a:t>Stopping by Woods on a Snowy Evening</a:t>
            </a:r>
            <a:endParaRPr lang="en-US" sz="2600" dirty="0"/>
          </a:p>
          <a:p>
            <a:pPr indent="0" marL="0">
              <a:buNone/>
            </a:pPr>
            <a:r>
              <a:rPr lang="en-US" sz="1800" i="1" dirty="0">
                <a:solidFill>
                  <a:schemeClr val="accent5"/>
                </a:solidFill>
                <a:latin typeface="Georgia" pitchFamily="34" charset="0"/>
                <a:ea typeface="Georgia" pitchFamily="34" charset="-122"/>
                <a:cs typeface="Georgia" pitchFamily="34" charset="-120"/>
              </a:rPr>
              <a:t>by Robert Frost</a:t>
            </a:r>
            <a:endParaRPr lang="en-US" sz="2600" dirty="0"/>
          </a:p>
        </p:txBody>
      </p:sp>
      <p:sp>
        <p:nvSpPr>
          <p:cNvPr id="4" name="Stopping by Woods on a Snowy Evening text"/>
          <p:cNvSpPr txBox="1"/>
          <p:nvPr/>
        </p:nvSpPr>
        <p:spPr>
          <a:xfrm>
            <a:off x="457200" y="1371600"/>
            <a:ext cx="8046720" cy="4251960"/>
          </a:xfrm>
          <a:prstGeom prst="rect">
            <a:avLst/>
          </a:prstGeom>
          <a:noFill/>
          <a:ln/>
        </p:spPr>
        <p:txBody>
          <a:bodyPr wrap="square" lIns="0" tIns="0" rIns="0" bIns="0" rtlCol="0" anchor="t"/>
          <a:lstStyle/>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Whose woods these are I think I know.</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His house is in the village though;</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He will not see me stopping here</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To watch his woods fill up with snow.</a:t>
            </a:r>
            <a:endParaRPr lang="en-US" sz="1800" dirty="0"/>
          </a:p>
          <a:p>
            <a:pPr indent="0" marL="0">
              <a:lnSpc>
                <a:spcPct val="88000"/>
              </a:lnSpc>
              <a:buNone/>
            </a:pPr>
            <a:r>
              <a:rPr lang="en-US" sz="900" dirty="0">
                <a:solidFill>
                  <a:schemeClr val="tx1"/>
                </a:solidFill>
                <a:latin typeface="Georgia" pitchFamily="34" charset="0"/>
                <a:ea typeface="Georgia" pitchFamily="34" charset="-122"/>
                <a:cs typeface="Georgia" pitchFamily="34" charset="-120"/>
              </a:rPr>
              <a:t> </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My little horse must think it queer</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To stop without a farmhouse near</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Between the woods and frozen lake</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The darkest evening of the year.</a:t>
            </a:r>
            <a:endParaRPr lang="en-US" sz="1800" dirty="0"/>
          </a:p>
          <a:p>
            <a:pPr indent="0" marL="0">
              <a:lnSpc>
                <a:spcPct val="88000"/>
              </a:lnSpc>
              <a:buNone/>
            </a:pPr>
            <a:r>
              <a:rPr lang="en-US" sz="900" dirty="0">
                <a:solidFill>
                  <a:schemeClr val="tx1"/>
                </a:solidFill>
                <a:latin typeface="Georgia" pitchFamily="34" charset="0"/>
                <a:ea typeface="Georgia" pitchFamily="34" charset="-122"/>
                <a:cs typeface="Georgia" pitchFamily="34" charset="-120"/>
              </a:rPr>
              <a:t> </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He gives his harness bells a shake</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To ask if there is some mistake.</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The only other sound's the sweep</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Of easy wind and downy flake.</a:t>
            </a:r>
            <a:endParaRPr lang="en-US" sz="1800" dirty="0"/>
          </a:p>
          <a:p>
            <a:pPr indent="0" marL="0">
              <a:lnSpc>
                <a:spcPct val="88000"/>
              </a:lnSpc>
              <a:buNone/>
            </a:pPr>
            <a:r>
              <a:rPr lang="en-US" sz="900" dirty="0">
                <a:solidFill>
                  <a:schemeClr val="tx1"/>
                </a:solidFill>
                <a:latin typeface="Georgia" pitchFamily="34" charset="0"/>
                <a:ea typeface="Georgia" pitchFamily="34" charset="-122"/>
                <a:cs typeface="Georgia" pitchFamily="34" charset="-120"/>
              </a:rPr>
              <a:t> </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The woods are lovely, dark and deep,</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But I have promises to keep,</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And miles to go before I sleep,</a:t>
            </a:r>
            <a:endParaRPr lang="en-US" sz="1800" dirty="0"/>
          </a:p>
          <a:p>
            <a:pPr indent="0" marL="0">
              <a:lnSpc>
                <a:spcPct val="88000"/>
              </a:lnSpc>
              <a:buNone/>
            </a:pPr>
            <a:r>
              <a:rPr lang="en-US" sz="1800" dirty="0">
                <a:solidFill>
                  <a:schemeClr val="tx1"/>
                </a:solidFill>
                <a:latin typeface="Georgia" pitchFamily="34" charset="0"/>
                <a:ea typeface="Georgia" pitchFamily="34" charset="-122"/>
                <a:cs typeface="Georgia" pitchFamily="34" charset="-120"/>
              </a:rPr>
              <a:t>And miles to go before I sleep.</a:t>
            </a:r>
            <a:endParaRPr lang="en-US" sz="1800" dirty="0"/>
          </a:p>
        </p:txBody>
      </p:sp>
      <p:pic>
        <p:nvPicPr>
          <p:cNvPr id="5" name="Stopping by Woods on a Snowy Evening picture" descr="Snowy pine woods at night">    </p:cNvPr>
          <p:cNvPicPr>
            <a:picLocks noChangeAspect="1"/>
          </p:cNvPicPr>
          <p:nvPr/>
        </p:nvPicPr>
        <p:blipFill>
          <a:blip r:embed="rId1"/>
          <a:stretch>
            <a:fillRect/>
          </a:stretch>
        </p:blipFill>
        <p:spPr>
          <a:xfrm>
            <a:off x="8778240" y="1143000"/>
            <a:ext cx="2971800" cy="3703320"/>
          </a:xfrm>
          <a:prstGeom prst="rect">
            <a:avLst/>
          </a:prstGeom>
        </p:spPr>
      </p:pic>
      <p:sp>
        <p:nvSpPr>
          <p:cNvPr id="6" name="Dedication box"/>
          <p:cNvSpPr/>
          <p:nvPr/>
        </p:nvSpPr>
        <p:spPr>
          <a:xfrm>
            <a:off x="457200" y="5760720"/>
            <a:ext cx="11292840" cy="731520"/>
          </a:xfrm>
          <a:prstGeom prst="roundRect">
            <a:avLst>
              <a:gd name="adj" fmla="val 12500"/>
            </a:avLst>
          </a:prstGeom>
          <a:solidFill>
            <a:schemeClr val="bg2"/>
          </a:solidFill>
          <a:ln w="12700">
            <a:solidFill>
              <a:schemeClr val="bg2"/>
            </a:solidFill>
            <a:prstDash val="solid"/>
          </a:ln>
        </p:spPr>
      </p:sp>
      <p:sp>
        <p:nvSpPr>
          <p:cNvPr id="7" name="Dedication text"/>
          <p:cNvSpPr txBox="1"/>
          <p:nvPr/>
        </p:nvSpPr>
        <p:spPr>
          <a:xfrm>
            <a:off x="594360" y="5760720"/>
            <a:ext cx="11018520" cy="731520"/>
          </a:xfrm>
          <a:prstGeom prst="rect">
            <a:avLst/>
          </a:prstGeom>
          <a:noFill/>
          <a:ln/>
        </p:spPr>
        <p:txBody>
          <a:bodyPr wrap="square" lIns="635" tIns="635" rIns="635" bIns="635"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Dedication: </a:t>
            </a:r>
            <a:pPr indent="0" marL="0">
              <a:buNone/>
            </a:pPr>
            <a:r>
              <a:rPr lang="en-US" sz="1800" dirty="0">
                <a:solidFill>
                  <a:schemeClr val="tx1"/>
                </a:solidFill>
                <a:latin typeface="Calibri" pitchFamily="34" charset="0"/>
                <a:ea typeface="Calibri" pitchFamily="34" charset="-122"/>
                <a:cs typeface="Calibri" pitchFamily="34" charset="-120"/>
              </a:rPr>
              <a:t>I dedicate this poem to my grandfather because he loved walking in the snow and always said we would go home “in a minute”.</a:t>
            </a:r>
            <a:endParaRPr lang="en-US" sz="18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Darken overlay"/>
          <p:cNvSpPr/>
          <p:nvPr/>
        </p:nvSpPr>
        <p:spPr>
          <a:xfrm>
            <a:off x="0" y="0"/>
            <a:ext cx="12191695" cy="6858000"/>
          </a:xfrm>
          <a:prstGeom prst="rect">
            <a:avLst/>
          </a:prstGeom>
          <a:solidFill>
            <a:srgbClr val="000000">
              <a:alpha val="45000"/>
            </a:srgbClr>
          </a:solidFill>
          <a:ln w="12700">
            <a:solidFill>
              <a:srgbClr val="000000">
                <a:alpha val="0"/>
              </a:srgbClr>
            </a:solidFill>
            <a:prstDash val="solid"/>
          </a:ln>
        </p:spPr>
      </p:sp>
      <p:sp>
        <p:nvSpPr>
          <p:cNvPr id="3" name="Section title"/>
          <p:cNvSpPr txBox="1"/>
          <p:nvPr/>
        </p:nvSpPr>
        <p:spPr>
          <a:xfrm>
            <a:off x="914400" y="2377440"/>
            <a:ext cx="10362895" cy="1280160"/>
          </a:xfrm>
          <a:prstGeom prst="rect">
            <a:avLst/>
          </a:prstGeom>
          <a:noFill/>
          <a:ln/>
        </p:spPr>
        <p:txBody>
          <a:bodyPr wrap="square"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Animals</a:t>
            </a:r>
            <a:endParaRPr lang="en-US" sz="6000" dirty="0"/>
          </a:p>
        </p:txBody>
      </p:sp>
      <p:sp>
        <p:nvSpPr>
          <p:cNvPr id="4" name="Section subtitle"/>
          <p:cNvSpPr txBox="1"/>
          <p:nvPr/>
        </p:nvSpPr>
        <p:spPr>
          <a:xfrm>
            <a:off x="914400" y="3657600"/>
            <a:ext cx="10362895" cy="640080"/>
          </a:xfrm>
          <a:prstGeom prst="rect">
            <a:avLst/>
          </a:prstGeom>
          <a:noFill/>
          <a:ln/>
        </p:spPr>
        <p:txBody>
          <a:bodyPr wrap="square"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The Fox · The Tyger · The Eagle</a:t>
            </a:r>
            <a:endParaRPr lang="en-US" sz="24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bg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heme label"/>
          <p:cNvSpPr txBox="1"/>
          <p:nvPr/>
        </p:nvSpPr>
        <p:spPr>
          <a:xfrm>
            <a:off x="457200" y="228600"/>
            <a:ext cx="3657600" cy="274320"/>
          </a:xfrm>
          <a:prstGeom prst="rect">
            <a:avLst/>
          </a:prstGeom>
          <a:noFill/>
          <a:ln/>
        </p:spPr>
        <p:txBody>
          <a:bodyPr wrap="square" lIns="0" tIns="0" rIns="0" bIns="0" rtlCol="0" anchor="ctr"/>
          <a:lstStyle/>
          <a:p>
            <a:pPr indent="0" marL="0">
              <a:buNone/>
            </a:pPr>
            <a:r>
              <a:rPr lang="en-US" sz="1400" b="1" spc="300" kern="0" dirty="0">
                <a:solidFill>
                  <a:schemeClr val="accent2"/>
                </a:solidFill>
                <a:latin typeface="Calibri" pitchFamily="34" charset="0"/>
                <a:ea typeface="Calibri" pitchFamily="34" charset="-122"/>
                <a:cs typeface="Calibri" pitchFamily="34" charset="-120"/>
              </a:rPr>
              <a:t>ANIMALS</a:t>
            </a:r>
            <a:endParaRPr lang="en-US" sz="1400" dirty="0"/>
          </a:p>
        </p:txBody>
      </p:sp>
      <p:sp>
        <p:nvSpPr>
          <p:cNvPr id="3" name="Poem title"/>
          <p:cNvSpPr txBox="1"/>
          <p:nvPr/>
        </p:nvSpPr>
        <p:spPr>
          <a:xfrm>
            <a:off x="457200" y="457200"/>
            <a:ext cx="8046720" cy="868680"/>
          </a:xfrm>
          <a:prstGeom prst="rect">
            <a:avLst/>
          </a:prstGeom>
          <a:noFill/>
          <a:ln/>
        </p:spPr>
        <p:txBody>
          <a:bodyPr wrap="square" lIns="0" tIns="0" rIns="0" bIns="0" rtlCol="0" anchor="t"/>
          <a:lstStyle/>
          <a:p>
            <a:pPr indent="0" marL="0">
              <a:buNone/>
            </a:pPr>
            <a:r>
              <a:rPr lang="en-US" sz="2600" b="1" dirty="0">
                <a:solidFill>
                  <a:schemeClr val="accent2"/>
                </a:solidFill>
                <a:latin typeface="Georgia" pitchFamily="34" charset="0"/>
                <a:ea typeface="Georgia" pitchFamily="34" charset="-122"/>
                <a:cs typeface="Georgia" pitchFamily="34" charset="-120"/>
              </a:rPr>
              <a:t>The Fox</a:t>
            </a:r>
            <a:endParaRPr lang="en-US" sz="2600" dirty="0"/>
          </a:p>
          <a:p>
            <a:pPr indent="0" marL="0">
              <a:buNone/>
            </a:pPr>
            <a:r>
              <a:rPr lang="en-US" sz="1800" i="1" dirty="0">
                <a:solidFill>
                  <a:schemeClr val="accent5"/>
                </a:solidFill>
                <a:latin typeface="Georgia" pitchFamily="34" charset="0"/>
                <a:ea typeface="Georgia" pitchFamily="34" charset="-122"/>
                <a:cs typeface="Georgia" pitchFamily="34" charset="-120"/>
              </a:rPr>
              <a:t>by me</a:t>
            </a:r>
            <a:endParaRPr lang="en-US" sz="2600" dirty="0"/>
          </a:p>
        </p:txBody>
      </p:sp>
      <p:sp>
        <p:nvSpPr>
          <p:cNvPr id="4" name="The Fox text"/>
          <p:cNvSpPr txBox="1"/>
          <p:nvPr/>
        </p:nvSpPr>
        <p:spPr>
          <a:xfrm>
            <a:off x="457200" y="1371600"/>
            <a:ext cx="8046720" cy="3520440"/>
          </a:xfrm>
          <a:prstGeom prst="rect">
            <a:avLst/>
          </a:prstGeom>
          <a:noFill/>
          <a:ln/>
        </p:spPr>
        <p:txBody>
          <a:bodyPr wrap="square" lIns="0" tIns="0" rIns="0" bIns="0" rtlCol="0" anchor="t"/>
          <a:lstStyle/>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At the edge of the field where the long grass grows,</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A fox slips by on quiet toes.</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Her coat is red like autumn fire,</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Her ears stand up like points of wire.</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She stops. She listens. Her black nose twitches.</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She knows every path through the fields and ditches.</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She does not need a map or light,</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She owns the hours of the night.</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And when the morning turns the sky to grey,</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She curls up tight and sleeps the day away.</a:t>
            </a:r>
            <a:endParaRPr lang="en-US" sz="1800" dirty="0"/>
          </a:p>
        </p:txBody>
      </p:sp>
      <p:pic>
        <p:nvPicPr>
          <p:cNvPr id="5" name="The Fox picture" descr="A red fox in a green field">    </p:cNvPr>
          <p:cNvPicPr>
            <a:picLocks noChangeAspect="1"/>
          </p:cNvPicPr>
          <p:nvPr/>
        </p:nvPicPr>
        <p:blipFill>
          <a:blip r:embed="rId1"/>
          <a:stretch>
            <a:fillRect/>
          </a:stretch>
        </p:blipFill>
        <p:spPr>
          <a:xfrm>
            <a:off x="8778240" y="1143000"/>
            <a:ext cx="2971800" cy="3703320"/>
          </a:xfrm>
          <a:prstGeom prst="rect">
            <a:avLst/>
          </a:prstGeom>
        </p:spPr>
      </p:pic>
      <p:sp>
        <p:nvSpPr>
          <p:cNvPr id="6" name="Response box"/>
          <p:cNvSpPr/>
          <p:nvPr/>
        </p:nvSpPr>
        <p:spPr>
          <a:xfrm>
            <a:off x="457200" y="5074920"/>
            <a:ext cx="11292840" cy="1417320"/>
          </a:xfrm>
          <a:prstGeom prst="roundRect">
            <a:avLst>
              <a:gd name="adj" fmla="val 6452"/>
            </a:avLst>
          </a:prstGeom>
          <a:solidFill>
            <a:schemeClr val="accent4"/>
          </a:solidFill>
          <a:ln w="12700">
            <a:solidFill>
              <a:schemeClr val="accent4"/>
            </a:solidFill>
            <a:prstDash val="solid"/>
          </a:ln>
        </p:spPr>
      </p:sp>
      <p:sp>
        <p:nvSpPr>
          <p:cNvPr id="7" name="Response text"/>
          <p:cNvSpPr txBox="1"/>
          <p:nvPr/>
        </p:nvSpPr>
        <p:spPr>
          <a:xfrm>
            <a:off x="594360" y="5074920"/>
            <a:ext cx="11018520" cy="1417320"/>
          </a:xfrm>
          <a:prstGeom prst="rect">
            <a:avLst/>
          </a:prstGeom>
          <a:noFill/>
          <a:ln/>
        </p:spPr>
        <p:txBody>
          <a:bodyPr wrap="square" lIns="635" tIns="635" rIns="635" bIns="635" rtlCol="0" anchor="ctr"/>
          <a:lstStyle/>
          <a:p>
            <a:pPr indent="0" marL="0">
              <a:buNone/>
            </a:pPr>
            <a:r>
              <a:rPr lang="en-US" sz="1800" b="1" dirty="0">
                <a:solidFill>
                  <a:schemeClr val="accent3"/>
                </a:solidFill>
                <a:latin typeface="Calibri" pitchFamily="34" charset="0"/>
                <a:ea typeface="Calibri" pitchFamily="34" charset="-122"/>
                <a:cs typeface="Calibri" pitchFamily="34" charset="-120"/>
              </a:rPr>
              <a:t>Response: </a:t>
            </a:r>
            <a:pPr indent="0" marL="0">
              <a:buNone/>
            </a:pPr>
            <a:r>
              <a:rPr lang="en-US" sz="1800" dirty="0">
                <a:solidFill>
                  <a:schemeClr val="tx1"/>
                </a:solidFill>
                <a:latin typeface="Calibri" pitchFamily="34" charset="0"/>
                <a:ea typeface="Calibri" pitchFamily="34" charset="-122"/>
                <a:cs typeface="Calibri" pitchFamily="34" charset="-120"/>
              </a:rPr>
              <a:t>This is an essential poem because it shows a wild animal that lives right next to us but is almost never seen. The poem feels quiet and secretive because of soft words like “slips”, “quiet toes” and “listens”. The poem is about independence because the fox does not need a map or a light to find her way. The poem uses rhyming couplets, for example “grows / toes”, and the short lines “She stops. She listens.” slow the reader down.</a:t>
            </a:r>
            <a:endParaRPr lang="en-US" sz="18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heme label"/>
          <p:cNvSpPr txBox="1"/>
          <p:nvPr/>
        </p:nvSpPr>
        <p:spPr>
          <a:xfrm>
            <a:off x="457200" y="228600"/>
            <a:ext cx="3657600" cy="274320"/>
          </a:xfrm>
          <a:prstGeom prst="rect">
            <a:avLst/>
          </a:prstGeom>
          <a:noFill/>
          <a:ln/>
        </p:spPr>
        <p:txBody>
          <a:bodyPr wrap="square" lIns="0" tIns="0" rIns="0" bIns="0" rtlCol="0" anchor="ctr"/>
          <a:lstStyle/>
          <a:p>
            <a:pPr indent="0" marL="0">
              <a:buNone/>
            </a:pPr>
            <a:r>
              <a:rPr lang="en-US" sz="1400" b="1" spc="300" kern="0" dirty="0">
                <a:solidFill>
                  <a:schemeClr val="accent2"/>
                </a:solidFill>
                <a:latin typeface="Calibri" pitchFamily="34" charset="0"/>
                <a:ea typeface="Calibri" pitchFamily="34" charset="-122"/>
                <a:cs typeface="Calibri" pitchFamily="34" charset="-120"/>
              </a:rPr>
              <a:t>ANIMALS</a:t>
            </a:r>
            <a:endParaRPr lang="en-US" sz="1400" dirty="0"/>
          </a:p>
        </p:txBody>
      </p:sp>
      <p:sp>
        <p:nvSpPr>
          <p:cNvPr id="3" name="Poem title"/>
          <p:cNvSpPr txBox="1"/>
          <p:nvPr/>
        </p:nvSpPr>
        <p:spPr>
          <a:xfrm>
            <a:off x="457200" y="457200"/>
            <a:ext cx="8046720" cy="868680"/>
          </a:xfrm>
          <a:prstGeom prst="rect">
            <a:avLst/>
          </a:prstGeom>
          <a:noFill/>
          <a:ln/>
        </p:spPr>
        <p:txBody>
          <a:bodyPr wrap="square" lIns="0" tIns="0" rIns="0" bIns="0" rtlCol="0" anchor="t"/>
          <a:lstStyle/>
          <a:p>
            <a:pPr indent="0" marL="0">
              <a:buNone/>
            </a:pPr>
            <a:r>
              <a:rPr lang="en-US" sz="2600" b="1" dirty="0">
                <a:solidFill>
                  <a:schemeClr val="accent2"/>
                </a:solidFill>
                <a:latin typeface="Georgia" pitchFamily="34" charset="0"/>
                <a:ea typeface="Georgia" pitchFamily="34" charset="-122"/>
                <a:cs typeface="Georgia" pitchFamily="34" charset="-120"/>
              </a:rPr>
              <a:t>The Tyger</a:t>
            </a:r>
            <a:endParaRPr lang="en-US" sz="2600" dirty="0"/>
          </a:p>
          <a:p>
            <a:pPr indent="0" marL="0">
              <a:buNone/>
            </a:pPr>
            <a:r>
              <a:rPr lang="en-US" sz="1800" i="1" dirty="0">
                <a:solidFill>
                  <a:schemeClr val="accent5"/>
                </a:solidFill>
                <a:latin typeface="Georgia" pitchFamily="34" charset="0"/>
                <a:ea typeface="Georgia" pitchFamily="34" charset="-122"/>
                <a:cs typeface="Georgia" pitchFamily="34" charset="-120"/>
              </a:rPr>
              <a:t>by William Blake</a:t>
            </a:r>
            <a:endParaRPr lang="en-US" sz="2600" dirty="0"/>
          </a:p>
        </p:txBody>
      </p:sp>
      <p:sp>
        <p:nvSpPr>
          <p:cNvPr id="4" name="The Tyger text col 1"/>
          <p:cNvSpPr txBox="1"/>
          <p:nvPr/>
        </p:nvSpPr>
        <p:spPr>
          <a:xfrm>
            <a:off x="457200" y="1371600"/>
            <a:ext cx="4206240" cy="3520440"/>
          </a:xfrm>
          <a:prstGeom prst="rect">
            <a:avLst/>
          </a:prstGeom>
          <a:noFill/>
          <a:ln/>
        </p:spPr>
        <p:txBody>
          <a:bodyPr wrap="square" lIns="0" tIns="0" rIns="0" bIns="0" rtlCol="0" anchor="t"/>
          <a:lstStyle/>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Tyger Tyger, burning bright,</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In the forests of the night;</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What immortal hand or eye,</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Could frame thy fearful symmetry?</a:t>
            </a:r>
            <a:endParaRPr lang="en-US" sz="1800" dirty="0"/>
          </a:p>
          <a:p>
            <a:pPr indent="0" marL="0">
              <a:lnSpc>
                <a:spcPct val="90000"/>
              </a:lnSpc>
              <a:buNone/>
            </a:pPr>
            <a:r>
              <a:rPr lang="en-US" sz="900" dirty="0">
                <a:solidFill>
                  <a:schemeClr val="tx1"/>
                </a:solidFill>
                <a:latin typeface="Georgia" pitchFamily="34" charset="0"/>
                <a:ea typeface="Georgia" pitchFamily="34" charset="-122"/>
                <a:cs typeface="Georgia" pitchFamily="34" charset="-120"/>
              </a:rPr>
              <a:t> </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In what distant deeps or skies</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Burnt the fire of thine eyes?</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On what wings dare he aspire?</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What the hand, dare seize the fire?</a:t>
            </a:r>
            <a:endParaRPr lang="en-US" sz="1800" dirty="0"/>
          </a:p>
          <a:p>
            <a:pPr indent="0" marL="0">
              <a:lnSpc>
                <a:spcPct val="90000"/>
              </a:lnSpc>
              <a:buNone/>
            </a:pPr>
            <a:r>
              <a:rPr lang="en-US" sz="900" dirty="0">
                <a:solidFill>
                  <a:schemeClr val="tx1"/>
                </a:solidFill>
                <a:latin typeface="Georgia" pitchFamily="34" charset="0"/>
                <a:ea typeface="Georgia" pitchFamily="34" charset="-122"/>
                <a:cs typeface="Georgia" pitchFamily="34" charset="-120"/>
              </a:rPr>
              <a:t> </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And what shoulder, and what art,</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Could twist the sinews of thy heart?</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And when thy heart began to beat,</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What dread hand? and what dread feet?</a:t>
            </a:r>
            <a:endParaRPr lang="en-US" sz="1800" dirty="0"/>
          </a:p>
        </p:txBody>
      </p:sp>
      <p:sp>
        <p:nvSpPr>
          <p:cNvPr id="5" name="The Tyger text col 2"/>
          <p:cNvSpPr txBox="1"/>
          <p:nvPr/>
        </p:nvSpPr>
        <p:spPr>
          <a:xfrm>
            <a:off x="4754880" y="1371600"/>
            <a:ext cx="4206240" cy="3520440"/>
          </a:xfrm>
          <a:prstGeom prst="rect">
            <a:avLst/>
          </a:prstGeom>
          <a:noFill/>
          <a:ln/>
        </p:spPr>
        <p:txBody>
          <a:bodyPr wrap="square" lIns="0" tIns="0" rIns="0" bIns="0" rtlCol="0" anchor="t"/>
          <a:lstStyle/>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What the hammer? what the chain,</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In what furnace was thy brain?</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What the anvil? what dread grasp,</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Dare its deadly terrors clasp!</a:t>
            </a:r>
            <a:endParaRPr lang="en-US" sz="1800" dirty="0"/>
          </a:p>
          <a:p>
            <a:pPr indent="0" marL="0">
              <a:lnSpc>
                <a:spcPct val="90000"/>
              </a:lnSpc>
              <a:buNone/>
            </a:pPr>
            <a:r>
              <a:rPr lang="en-US" sz="900" dirty="0">
                <a:solidFill>
                  <a:schemeClr val="tx1"/>
                </a:solidFill>
                <a:latin typeface="Georgia" pitchFamily="34" charset="0"/>
                <a:ea typeface="Georgia" pitchFamily="34" charset="-122"/>
                <a:cs typeface="Georgia" pitchFamily="34" charset="-120"/>
              </a:rPr>
              <a:t> </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When the stars threw down their spears</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And water'd heaven with their tears:</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Did he smile his work to see?</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Did he who made the Lamb make thee?</a:t>
            </a:r>
            <a:endParaRPr lang="en-US" sz="1800" dirty="0"/>
          </a:p>
          <a:p>
            <a:pPr indent="0" marL="0">
              <a:lnSpc>
                <a:spcPct val="90000"/>
              </a:lnSpc>
              <a:buNone/>
            </a:pPr>
            <a:r>
              <a:rPr lang="en-US" sz="900" dirty="0">
                <a:solidFill>
                  <a:schemeClr val="tx1"/>
                </a:solidFill>
                <a:latin typeface="Georgia" pitchFamily="34" charset="0"/>
                <a:ea typeface="Georgia" pitchFamily="34" charset="-122"/>
                <a:cs typeface="Georgia" pitchFamily="34" charset="-120"/>
              </a:rPr>
              <a:t> </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Tyger Tyger burning bright,</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In the forests of the night:</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What immortal hand or eye,</a:t>
            </a:r>
            <a:endParaRPr lang="en-US" sz="1800" dirty="0"/>
          </a:p>
          <a:p>
            <a:pPr indent="0" marL="0">
              <a:lnSpc>
                <a:spcPct val="90000"/>
              </a:lnSpc>
              <a:buNone/>
            </a:pPr>
            <a:r>
              <a:rPr lang="en-US" sz="1800" dirty="0">
                <a:solidFill>
                  <a:schemeClr val="tx1"/>
                </a:solidFill>
                <a:latin typeface="Georgia" pitchFamily="34" charset="0"/>
                <a:ea typeface="Georgia" pitchFamily="34" charset="-122"/>
                <a:cs typeface="Georgia" pitchFamily="34" charset="-120"/>
              </a:rPr>
              <a:t>Dare frame thy fearful symmetry?</a:t>
            </a:r>
            <a:endParaRPr lang="en-US" sz="1800" dirty="0"/>
          </a:p>
        </p:txBody>
      </p:sp>
      <p:pic>
        <p:nvPicPr>
          <p:cNvPr id="6" name="The Tyger picture" descr="A tiger face in the jungle">    </p:cNvPr>
          <p:cNvPicPr>
            <a:picLocks noChangeAspect="1"/>
          </p:cNvPicPr>
          <p:nvPr/>
        </p:nvPicPr>
        <p:blipFill>
          <a:blip r:embed="rId1"/>
          <a:srcRect l="0" r="0" t="0" b="0"/>
          <a:stretch/>
        </p:blipFill>
        <p:spPr>
          <a:xfrm>
            <a:off x="9235440" y="1143000"/>
            <a:ext cx="2514600" cy="3703320"/>
          </a:xfrm>
          <a:prstGeom prst="rect">
            <a:avLst/>
          </a:prstGeom>
        </p:spPr>
      </p:pic>
      <p:sp>
        <p:nvSpPr>
          <p:cNvPr id="7" name="Response box"/>
          <p:cNvSpPr/>
          <p:nvPr/>
        </p:nvSpPr>
        <p:spPr>
          <a:xfrm>
            <a:off x="457200" y="5074920"/>
            <a:ext cx="11292840" cy="1417320"/>
          </a:xfrm>
          <a:prstGeom prst="roundRect">
            <a:avLst>
              <a:gd name="adj" fmla="val 6452"/>
            </a:avLst>
          </a:prstGeom>
          <a:solidFill>
            <a:schemeClr val="accent4"/>
          </a:solidFill>
          <a:ln w="12700">
            <a:solidFill>
              <a:schemeClr val="accent4"/>
            </a:solidFill>
            <a:prstDash val="solid"/>
          </a:ln>
        </p:spPr>
      </p:sp>
      <p:sp>
        <p:nvSpPr>
          <p:cNvPr id="8" name="Response text"/>
          <p:cNvSpPr txBox="1"/>
          <p:nvPr/>
        </p:nvSpPr>
        <p:spPr>
          <a:xfrm>
            <a:off x="594360" y="5074920"/>
            <a:ext cx="11018520" cy="1417320"/>
          </a:xfrm>
          <a:prstGeom prst="rect">
            <a:avLst/>
          </a:prstGeom>
          <a:noFill/>
          <a:ln/>
        </p:spPr>
        <p:txBody>
          <a:bodyPr wrap="square" lIns="635" tIns="635" rIns="635" bIns="635" rtlCol="0" anchor="ctr"/>
          <a:lstStyle/>
          <a:p>
            <a:pPr indent="0" marL="0">
              <a:buNone/>
            </a:pPr>
            <a:r>
              <a:rPr lang="en-US" sz="1800" b="1" dirty="0">
                <a:solidFill>
                  <a:schemeClr val="accent3"/>
                </a:solidFill>
                <a:latin typeface="Calibri" pitchFamily="34" charset="0"/>
                <a:ea typeface="Calibri" pitchFamily="34" charset="-122"/>
                <a:cs typeface="Calibri" pitchFamily="34" charset="-120"/>
              </a:rPr>
              <a:t>Response: </a:t>
            </a:r>
            <a:pPr indent="0" marL="0">
              <a:buNone/>
            </a:pPr>
            <a:r>
              <a:rPr lang="en-US" sz="1800" dirty="0">
                <a:solidFill>
                  <a:schemeClr val="tx1"/>
                </a:solidFill>
                <a:latin typeface="Calibri" pitchFamily="34" charset="0"/>
                <a:ea typeface="Calibri" pitchFamily="34" charset="-122"/>
                <a:cs typeface="Calibri" pitchFamily="34" charset="-120"/>
              </a:rPr>
              <a:t>This is an essential poem because it asks a big question: how can the same creator make something gentle and something dangerous? The poem feels intense and a little scary because almost every line is a question and the rhythm pounds like a hammer. The poem is about the mystery of creation because the speaker cannot understand who would dare to make such a fierce animal. The poem uses an AABB rhyme scheme, for example “bright / night” which makes it sound like a chant.</a:t>
            </a:r>
            <a:endParaRPr lang="en-US" sz="18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heme label"/>
          <p:cNvSpPr txBox="1"/>
          <p:nvPr/>
        </p:nvSpPr>
        <p:spPr>
          <a:xfrm>
            <a:off x="457200" y="228600"/>
            <a:ext cx="3657600" cy="274320"/>
          </a:xfrm>
          <a:prstGeom prst="rect">
            <a:avLst/>
          </a:prstGeom>
          <a:noFill/>
          <a:ln/>
        </p:spPr>
        <p:txBody>
          <a:bodyPr wrap="square" lIns="0" tIns="0" rIns="0" bIns="0" rtlCol="0" anchor="ctr"/>
          <a:lstStyle/>
          <a:p>
            <a:pPr indent="0" marL="0">
              <a:buNone/>
            </a:pPr>
            <a:r>
              <a:rPr lang="en-US" sz="1400" b="1" spc="300" kern="0" dirty="0">
                <a:solidFill>
                  <a:schemeClr val="accent2"/>
                </a:solidFill>
                <a:latin typeface="Calibri" pitchFamily="34" charset="0"/>
                <a:ea typeface="Calibri" pitchFamily="34" charset="-122"/>
                <a:cs typeface="Calibri" pitchFamily="34" charset="-120"/>
              </a:rPr>
              <a:t>ANIMALS</a:t>
            </a:r>
            <a:endParaRPr lang="en-US" sz="1400" dirty="0"/>
          </a:p>
        </p:txBody>
      </p:sp>
      <p:sp>
        <p:nvSpPr>
          <p:cNvPr id="3" name="Poem title"/>
          <p:cNvSpPr txBox="1"/>
          <p:nvPr/>
        </p:nvSpPr>
        <p:spPr>
          <a:xfrm>
            <a:off x="457200" y="457200"/>
            <a:ext cx="8046720" cy="868680"/>
          </a:xfrm>
          <a:prstGeom prst="rect">
            <a:avLst/>
          </a:prstGeom>
          <a:noFill/>
          <a:ln/>
        </p:spPr>
        <p:txBody>
          <a:bodyPr wrap="square" lIns="0" tIns="0" rIns="0" bIns="0" rtlCol="0" anchor="t"/>
          <a:lstStyle/>
          <a:p>
            <a:pPr indent="0" marL="0">
              <a:buNone/>
            </a:pPr>
            <a:r>
              <a:rPr lang="en-US" sz="2600" b="1" dirty="0">
                <a:solidFill>
                  <a:schemeClr val="accent2"/>
                </a:solidFill>
                <a:latin typeface="Georgia" pitchFamily="34" charset="0"/>
                <a:ea typeface="Georgia" pitchFamily="34" charset="-122"/>
                <a:cs typeface="Georgia" pitchFamily="34" charset="-120"/>
              </a:rPr>
              <a:t>The Eagle</a:t>
            </a:r>
            <a:endParaRPr lang="en-US" sz="2600" dirty="0"/>
          </a:p>
          <a:p>
            <a:pPr indent="0" marL="0">
              <a:buNone/>
            </a:pPr>
            <a:r>
              <a:rPr lang="en-US" sz="1800" i="1" dirty="0">
                <a:solidFill>
                  <a:schemeClr val="accent5"/>
                </a:solidFill>
                <a:latin typeface="Georgia" pitchFamily="34" charset="0"/>
                <a:ea typeface="Georgia" pitchFamily="34" charset="-122"/>
                <a:cs typeface="Georgia" pitchFamily="34" charset="-120"/>
              </a:rPr>
              <a:t>by Alfred, Lord Tennyson</a:t>
            </a:r>
            <a:endParaRPr lang="en-US" sz="2600" dirty="0"/>
          </a:p>
        </p:txBody>
      </p:sp>
      <p:sp>
        <p:nvSpPr>
          <p:cNvPr id="4" name="The Eagle text"/>
          <p:cNvSpPr txBox="1"/>
          <p:nvPr/>
        </p:nvSpPr>
        <p:spPr>
          <a:xfrm>
            <a:off x="457200" y="1371600"/>
            <a:ext cx="8046720" cy="3520440"/>
          </a:xfrm>
          <a:prstGeom prst="rect">
            <a:avLst/>
          </a:prstGeom>
          <a:noFill/>
          <a:ln/>
        </p:spPr>
        <p:txBody>
          <a:bodyPr wrap="square" lIns="0" tIns="0" rIns="0" bIns="0" rtlCol="0" anchor="t"/>
          <a:lstStyle/>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He clasps the crag with crooked hands;</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Close to the sun in lonely lands,</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Ring'd with the azure world, he stands.</a:t>
            </a:r>
            <a:endParaRPr lang="en-US" sz="1800" dirty="0"/>
          </a:p>
          <a:p>
            <a:pPr indent="0" marL="0">
              <a:lnSpc>
                <a:spcPct val="100000"/>
              </a:lnSpc>
              <a:buNone/>
            </a:pPr>
            <a:r>
              <a:rPr lang="en-US" sz="900" dirty="0">
                <a:solidFill>
                  <a:schemeClr val="tx1"/>
                </a:solidFill>
                <a:latin typeface="Georgia" pitchFamily="34" charset="0"/>
                <a:ea typeface="Georgia" pitchFamily="34" charset="-122"/>
                <a:cs typeface="Georgia" pitchFamily="34" charset="-120"/>
              </a:rPr>
              <a:t> </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The wrinkled sea beneath him crawls;</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He watches from his mountain walls,</a:t>
            </a:r>
            <a:endParaRPr lang="en-US" sz="1800" dirty="0"/>
          </a:p>
          <a:p>
            <a:pPr indent="0" marL="0">
              <a:lnSpc>
                <a:spcPct val="100000"/>
              </a:lnSpc>
              <a:buNone/>
            </a:pPr>
            <a:r>
              <a:rPr lang="en-US" sz="1800" dirty="0">
                <a:solidFill>
                  <a:schemeClr val="tx1"/>
                </a:solidFill>
                <a:latin typeface="Georgia" pitchFamily="34" charset="0"/>
                <a:ea typeface="Georgia" pitchFamily="34" charset="-122"/>
                <a:cs typeface="Georgia" pitchFamily="34" charset="-120"/>
              </a:rPr>
              <a:t>And like a thunderbolt he falls.</a:t>
            </a:r>
            <a:endParaRPr lang="en-US" sz="1800" dirty="0"/>
          </a:p>
        </p:txBody>
      </p:sp>
      <p:pic>
        <p:nvPicPr>
          <p:cNvPr id="5" name="The Eagle picture" descr="An eagle on a cliff above the sea">    </p:cNvPr>
          <p:cNvPicPr>
            <a:picLocks noChangeAspect="1"/>
          </p:cNvPicPr>
          <p:nvPr/>
        </p:nvPicPr>
        <p:blipFill>
          <a:blip r:embed="rId1"/>
          <a:stretch>
            <a:fillRect/>
          </a:stretch>
        </p:blipFill>
        <p:spPr>
          <a:xfrm>
            <a:off x="8778240" y="1143000"/>
            <a:ext cx="2971800" cy="3703320"/>
          </a:xfrm>
          <a:prstGeom prst="rect">
            <a:avLst/>
          </a:prstGeom>
        </p:spPr>
      </p:pic>
      <p:sp>
        <p:nvSpPr>
          <p:cNvPr id="6" name="Response box"/>
          <p:cNvSpPr/>
          <p:nvPr/>
        </p:nvSpPr>
        <p:spPr>
          <a:xfrm>
            <a:off x="457200" y="5074920"/>
            <a:ext cx="11292840" cy="1417320"/>
          </a:xfrm>
          <a:prstGeom prst="roundRect">
            <a:avLst>
              <a:gd name="adj" fmla="val 6452"/>
            </a:avLst>
          </a:prstGeom>
          <a:solidFill>
            <a:schemeClr val="accent4"/>
          </a:solidFill>
          <a:ln w="12700">
            <a:solidFill>
              <a:schemeClr val="accent4"/>
            </a:solidFill>
            <a:prstDash val="solid"/>
          </a:ln>
        </p:spPr>
      </p:sp>
      <p:sp>
        <p:nvSpPr>
          <p:cNvPr id="7" name="Response text"/>
          <p:cNvSpPr txBox="1"/>
          <p:nvPr/>
        </p:nvSpPr>
        <p:spPr>
          <a:xfrm>
            <a:off x="594360" y="5074920"/>
            <a:ext cx="11018520" cy="1417320"/>
          </a:xfrm>
          <a:prstGeom prst="rect">
            <a:avLst/>
          </a:prstGeom>
          <a:noFill/>
          <a:ln/>
        </p:spPr>
        <p:txBody>
          <a:bodyPr wrap="square" lIns="635" tIns="635" rIns="635" bIns="635" rtlCol="0" anchor="ctr"/>
          <a:lstStyle/>
          <a:p>
            <a:pPr indent="0" marL="0">
              <a:buNone/>
            </a:pPr>
            <a:r>
              <a:rPr lang="en-US" sz="1800" b="1" dirty="0">
                <a:solidFill>
                  <a:schemeClr val="accent3"/>
                </a:solidFill>
                <a:latin typeface="Calibri" pitchFamily="34" charset="0"/>
                <a:ea typeface="Calibri" pitchFamily="34" charset="-122"/>
                <a:cs typeface="Calibri" pitchFamily="34" charset="-120"/>
              </a:rPr>
              <a:t>Response: </a:t>
            </a:r>
            <a:pPr indent="0" marL="0">
              <a:buNone/>
            </a:pPr>
            <a:r>
              <a:rPr lang="en-US" sz="1800" dirty="0">
                <a:solidFill>
                  <a:schemeClr val="tx1"/>
                </a:solidFill>
                <a:latin typeface="Calibri" pitchFamily="34" charset="0"/>
                <a:ea typeface="Calibri" pitchFamily="34" charset="-122"/>
                <a:cs typeface="Calibri" pitchFamily="34" charset="-120"/>
              </a:rPr>
              <a:t>This is an essential poem because it says so much about power and patience in only six lines. The poem feels still and tense because the eagle waits high above the world and then suddenly dives. The poem is about strength and control because the eagle chooses the exact moment to act. The poem uses a simile, for example “like a thunderbolt he falls”, which makes the dive feel fast and powerful.</a:t>
            </a:r>
            <a:endParaRPr lang="en-US" sz="1800" dirty="0"/>
          </a:p>
        </p:txBody>
      </p:sp>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Glossary title"/>
          <p:cNvSpPr txBox="1"/>
          <p:nvPr/>
        </p:nvSpPr>
        <p:spPr>
          <a:xfrm>
            <a:off x="457200" y="365760"/>
            <a:ext cx="8046720" cy="731520"/>
          </a:xfrm>
          <a:prstGeom prst="rect">
            <a:avLst/>
          </a:prstGeom>
          <a:noFill/>
          <a:ln/>
        </p:spPr>
        <p:txBody>
          <a:bodyPr wrap="square" lIns="0" tIns="0" rIns="0" bIns="0" rtlCol="0" anchor="ctr"/>
          <a:lstStyle/>
          <a:p>
            <a:pPr indent="0" marL="0">
              <a:buNone/>
            </a:pPr>
            <a:r>
              <a:rPr lang="en-US" sz="3200" b="1" dirty="0">
                <a:solidFill>
                  <a:schemeClr val="tx2"/>
                </a:solidFill>
                <a:latin typeface="Georgia" pitchFamily="34" charset="0"/>
                <a:ea typeface="Georgia" pitchFamily="34" charset="-122"/>
                <a:cs typeface="Georgia" pitchFamily="34" charset="-120"/>
              </a:rPr>
              <a:t>Glossary</a:t>
            </a:r>
            <a:endParaRPr lang="en-US" sz="3200" dirty="0"/>
          </a:p>
        </p:txBody>
      </p:sp>
      <p:sp>
        <p:nvSpPr>
          <p:cNvPr id="3" name="Glossary subtitle"/>
          <p:cNvSpPr txBox="1"/>
          <p:nvPr/>
        </p:nvSpPr>
        <p:spPr>
          <a:xfrm>
            <a:off x="457200" y="1051560"/>
            <a:ext cx="8046720" cy="365760"/>
          </a:xfrm>
          <a:prstGeom prst="rect">
            <a:avLst/>
          </a:prstGeom>
          <a:noFill/>
          <a:ln/>
        </p:spPr>
        <p:txBody>
          <a:bodyPr wrap="square" lIns="0" tIns="0" rIns="0" bIns="0" rtlCol="0" anchor="ctr"/>
          <a:lstStyle/>
          <a:p>
            <a:pPr indent="0" marL="0">
              <a:buNone/>
            </a:pPr>
            <a:r>
              <a:rPr lang="en-US" sz="1800" i="1" dirty="0">
                <a:solidFill>
                  <a:schemeClr val="accent5"/>
                </a:solidFill>
                <a:latin typeface="Calibri" pitchFamily="34" charset="0"/>
                <a:ea typeface="Calibri" pitchFamily="34" charset="-122"/>
                <a:cs typeface="Calibri" pitchFamily="34" charset="-120"/>
              </a:rPr>
              <a:t>Words I did not know before, in alphabetical order</a:t>
            </a:r>
            <a:endParaRPr lang="en-US" sz="1800" dirty="0"/>
          </a:p>
        </p:txBody>
      </p:sp>
      <p:sp>
        <p:nvSpPr>
          <p:cNvPr id="4" name="Glossary entries"/>
          <p:cNvSpPr txBox="1"/>
          <p:nvPr/>
        </p:nvSpPr>
        <p:spPr>
          <a:xfrm>
            <a:off x="457200" y="1600200"/>
            <a:ext cx="8046720" cy="4663440"/>
          </a:xfrm>
          <a:prstGeom prst="rect">
            <a:avLst/>
          </a:prstGeom>
          <a:noFill/>
          <a:ln/>
        </p:spPr>
        <p:txBody>
          <a:bodyPr wrap="square" lIns="0" tIns="0" rIns="0" bIns="0" rtlCol="0" anchor="t"/>
          <a:lstStyle/>
          <a:p>
            <a:pPr indent="0" marL="0">
              <a:spcAft>
                <a:spcPts val="700"/>
              </a:spcAft>
              <a:buNone/>
            </a:pPr>
            <a:r>
              <a:rPr lang="en-US" sz="1800" b="1" dirty="0">
                <a:solidFill>
                  <a:schemeClr val="accent1"/>
                </a:solidFill>
                <a:latin typeface="Georgia" pitchFamily="34" charset="0"/>
                <a:ea typeface="Georgia" pitchFamily="34" charset="-122"/>
                <a:cs typeface="Georgia" pitchFamily="34" charset="-120"/>
              </a:rPr>
              <a:t>anvil</a:t>
            </a:r>
            <a:pPr indent="0" marL="0">
              <a:spcAft>
                <a:spcPts val="700"/>
              </a:spcAft>
              <a:buNone/>
            </a:pPr>
            <a:r>
              <a:rPr lang="en-US" sz="1800" dirty="0">
                <a:solidFill>
                  <a:schemeClr val="tx1"/>
                </a:solidFill>
                <a:latin typeface="Calibri" pitchFamily="34" charset="0"/>
                <a:ea typeface="Calibri" pitchFamily="34" charset="-122"/>
                <a:cs typeface="Calibri" pitchFamily="34" charset="-120"/>
              </a:rPr>
              <a:t> – a heavy iron block that a blacksmith hammers hot metal on </a:t>
            </a:r>
            <a:pPr indent="0" marL="0">
              <a:spcAft>
                <a:spcPts val="700"/>
              </a:spcAft>
              <a:buNone/>
            </a:pPr>
            <a:r>
              <a:rPr lang="en-US" sz="1800" i="1" dirty="0">
                <a:solidFill>
                  <a:schemeClr val="accent5"/>
                </a:solidFill>
                <a:latin typeface="Calibri" pitchFamily="34" charset="0"/>
                <a:ea typeface="Calibri" pitchFamily="34" charset="-122"/>
                <a:cs typeface="Calibri" pitchFamily="34" charset="-120"/>
              </a:rPr>
              <a:t>(The Tyger)</a:t>
            </a:r>
            <a:endParaRPr lang="en-US" sz="1800" dirty="0"/>
          </a:p>
          <a:p>
            <a:pPr indent="0" marL="0">
              <a:spcAft>
                <a:spcPts val="700"/>
              </a:spcAft>
              <a:buNone/>
            </a:pPr>
            <a:r>
              <a:rPr lang="en-US" sz="1800" b="1" dirty="0">
                <a:solidFill>
                  <a:schemeClr val="accent1"/>
                </a:solidFill>
                <a:latin typeface="Georgia" pitchFamily="34" charset="0"/>
                <a:ea typeface="Georgia" pitchFamily="34" charset="-122"/>
                <a:cs typeface="Georgia" pitchFamily="34" charset="-120"/>
              </a:rPr>
              <a:t>azure</a:t>
            </a:r>
            <a:pPr indent="0" marL="0">
              <a:spcAft>
                <a:spcPts val="700"/>
              </a:spcAft>
              <a:buNone/>
            </a:pPr>
            <a:r>
              <a:rPr lang="en-US" sz="1800" dirty="0">
                <a:solidFill>
                  <a:schemeClr val="tx1"/>
                </a:solidFill>
                <a:latin typeface="Calibri" pitchFamily="34" charset="0"/>
                <a:ea typeface="Calibri" pitchFamily="34" charset="-122"/>
                <a:cs typeface="Calibri" pitchFamily="34" charset="-120"/>
              </a:rPr>
              <a:t> – bright blue, like a clear sky </a:t>
            </a:r>
            <a:pPr indent="0" marL="0">
              <a:spcAft>
                <a:spcPts val="700"/>
              </a:spcAft>
              <a:buNone/>
            </a:pPr>
            <a:r>
              <a:rPr lang="en-US" sz="1800" i="1" dirty="0">
                <a:solidFill>
                  <a:schemeClr val="accent5"/>
                </a:solidFill>
                <a:latin typeface="Calibri" pitchFamily="34" charset="0"/>
                <a:ea typeface="Calibri" pitchFamily="34" charset="-122"/>
                <a:cs typeface="Calibri" pitchFamily="34" charset="-120"/>
              </a:rPr>
              <a:t>(The Eagle)</a:t>
            </a:r>
            <a:endParaRPr lang="en-US" sz="1800" dirty="0"/>
          </a:p>
          <a:p>
            <a:pPr indent="0" marL="0">
              <a:spcAft>
                <a:spcPts val="700"/>
              </a:spcAft>
              <a:buNone/>
            </a:pPr>
            <a:r>
              <a:rPr lang="en-US" sz="1800" b="1" dirty="0">
                <a:solidFill>
                  <a:schemeClr val="accent1"/>
                </a:solidFill>
                <a:latin typeface="Georgia" pitchFamily="34" charset="0"/>
                <a:ea typeface="Georgia" pitchFamily="34" charset="-122"/>
                <a:cs typeface="Georgia" pitchFamily="34" charset="-120"/>
              </a:rPr>
              <a:t>bourn</a:t>
            </a:r>
            <a:pPr indent="0" marL="0">
              <a:spcAft>
                <a:spcPts val="700"/>
              </a:spcAft>
              <a:buNone/>
            </a:pPr>
            <a:r>
              <a:rPr lang="en-US" sz="1800" dirty="0">
                <a:solidFill>
                  <a:schemeClr val="tx1"/>
                </a:solidFill>
                <a:latin typeface="Calibri" pitchFamily="34" charset="0"/>
                <a:ea typeface="Calibri" pitchFamily="34" charset="-122"/>
                <a:cs typeface="Calibri" pitchFamily="34" charset="-120"/>
              </a:rPr>
              <a:t> – an old word for a small stream </a:t>
            </a:r>
            <a:pPr indent="0" marL="0">
              <a:spcAft>
                <a:spcPts val="700"/>
              </a:spcAft>
              <a:buNone/>
            </a:pPr>
            <a:r>
              <a:rPr lang="en-US" sz="1800" i="1" dirty="0">
                <a:solidFill>
                  <a:schemeClr val="accent5"/>
                </a:solidFill>
                <a:latin typeface="Calibri" pitchFamily="34" charset="0"/>
                <a:ea typeface="Calibri" pitchFamily="34" charset="-122"/>
                <a:cs typeface="Calibri" pitchFamily="34" charset="-120"/>
              </a:rPr>
              <a:t>(To Autumn)</a:t>
            </a:r>
            <a:endParaRPr lang="en-US" sz="1800" dirty="0"/>
          </a:p>
          <a:p>
            <a:pPr indent="0" marL="0">
              <a:spcAft>
                <a:spcPts val="700"/>
              </a:spcAft>
              <a:buNone/>
            </a:pPr>
            <a:r>
              <a:rPr lang="en-US" sz="1800" b="1" dirty="0">
                <a:solidFill>
                  <a:schemeClr val="accent1"/>
                </a:solidFill>
                <a:latin typeface="Georgia" pitchFamily="34" charset="0"/>
                <a:ea typeface="Georgia" pitchFamily="34" charset="-122"/>
                <a:cs typeface="Georgia" pitchFamily="34" charset="-120"/>
              </a:rPr>
              <a:t>crag</a:t>
            </a:r>
            <a:pPr indent="0" marL="0">
              <a:spcAft>
                <a:spcPts val="700"/>
              </a:spcAft>
              <a:buNone/>
            </a:pPr>
            <a:r>
              <a:rPr lang="en-US" sz="1800" dirty="0">
                <a:solidFill>
                  <a:schemeClr val="tx1"/>
                </a:solidFill>
                <a:latin typeface="Calibri" pitchFamily="34" charset="0"/>
                <a:ea typeface="Calibri" pitchFamily="34" charset="-122"/>
                <a:cs typeface="Calibri" pitchFamily="34" charset="-120"/>
              </a:rPr>
              <a:t> – a steep, rough rock or cliff </a:t>
            </a:r>
            <a:pPr indent="0" marL="0">
              <a:spcAft>
                <a:spcPts val="700"/>
              </a:spcAft>
              <a:buNone/>
            </a:pPr>
            <a:r>
              <a:rPr lang="en-US" sz="1800" i="1" dirty="0">
                <a:solidFill>
                  <a:schemeClr val="accent5"/>
                </a:solidFill>
                <a:latin typeface="Calibri" pitchFamily="34" charset="0"/>
                <a:ea typeface="Calibri" pitchFamily="34" charset="-122"/>
                <a:cs typeface="Calibri" pitchFamily="34" charset="-120"/>
              </a:rPr>
              <a:t>(The Eagle)</a:t>
            </a:r>
            <a:endParaRPr lang="en-US" sz="1800" dirty="0"/>
          </a:p>
          <a:p>
            <a:pPr indent="0" marL="0">
              <a:spcAft>
                <a:spcPts val="700"/>
              </a:spcAft>
              <a:buNone/>
            </a:pPr>
            <a:r>
              <a:rPr lang="en-US" sz="1800" b="1" dirty="0">
                <a:solidFill>
                  <a:schemeClr val="accent1"/>
                </a:solidFill>
                <a:latin typeface="Georgia" pitchFamily="34" charset="0"/>
                <a:ea typeface="Georgia" pitchFamily="34" charset="-122"/>
                <a:cs typeface="Georgia" pitchFamily="34" charset="-120"/>
              </a:rPr>
              <a:t>downy</a:t>
            </a:r>
            <a:pPr indent="0" marL="0">
              <a:spcAft>
                <a:spcPts val="700"/>
              </a:spcAft>
              <a:buNone/>
            </a:pPr>
            <a:r>
              <a:rPr lang="en-US" sz="1800" dirty="0">
                <a:solidFill>
                  <a:schemeClr val="tx1"/>
                </a:solidFill>
                <a:latin typeface="Calibri" pitchFamily="34" charset="0"/>
                <a:ea typeface="Calibri" pitchFamily="34" charset="-122"/>
                <a:cs typeface="Calibri" pitchFamily="34" charset="-120"/>
              </a:rPr>
              <a:t> – soft and fluffy, like the feathers of a baby bird </a:t>
            </a:r>
            <a:pPr indent="0" marL="0">
              <a:spcAft>
                <a:spcPts val="700"/>
              </a:spcAft>
              <a:buNone/>
            </a:pPr>
            <a:r>
              <a:rPr lang="en-US" sz="1800" i="1" dirty="0">
                <a:solidFill>
                  <a:schemeClr val="accent5"/>
                </a:solidFill>
                <a:latin typeface="Calibri" pitchFamily="34" charset="0"/>
                <a:ea typeface="Calibri" pitchFamily="34" charset="-122"/>
                <a:cs typeface="Calibri" pitchFamily="34" charset="-120"/>
              </a:rPr>
              <a:t>(Stopping by Woods)</a:t>
            </a:r>
            <a:endParaRPr lang="en-US" sz="1800" dirty="0"/>
          </a:p>
          <a:p>
            <a:pPr indent="0" marL="0">
              <a:spcAft>
                <a:spcPts val="700"/>
              </a:spcAft>
              <a:buNone/>
            </a:pPr>
            <a:r>
              <a:rPr lang="en-US" sz="1800" b="1" dirty="0">
                <a:solidFill>
                  <a:schemeClr val="accent1"/>
                </a:solidFill>
                <a:latin typeface="Georgia" pitchFamily="34" charset="0"/>
                <a:ea typeface="Georgia" pitchFamily="34" charset="-122"/>
                <a:cs typeface="Georgia" pitchFamily="34" charset="-120"/>
              </a:rPr>
              <a:t>hue</a:t>
            </a:r>
            <a:pPr indent="0" marL="0">
              <a:spcAft>
                <a:spcPts val="700"/>
              </a:spcAft>
              <a:buNone/>
            </a:pPr>
            <a:r>
              <a:rPr lang="en-US" sz="1800" dirty="0">
                <a:solidFill>
                  <a:schemeClr val="tx1"/>
                </a:solidFill>
                <a:latin typeface="Calibri" pitchFamily="34" charset="0"/>
                <a:ea typeface="Calibri" pitchFamily="34" charset="-122"/>
                <a:cs typeface="Calibri" pitchFamily="34" charset="-120"/>
              </a:rPr>
              <a:t> – a color, or a shade of a color </a:t>
            </a:r>
            <a:pPr indent="0" marL="0">
              <a:spcAft>
                <a:spcPts val="700"/>
              </a:spcAft>
              <a:buNone/>
            </a:pPr>
            <a:r>
              <a:rPr lang="en-US" sz="1800" i="1" dirty="0">
                <a:solidFill>
                  <a:schemeClr val="accent5"/>
                </a:solidFill>
                <a:latin typeface="Calibri" pitchFamily="34" charset="0"/>
                <a:ea typeface="Calibri" pitchFamily="34" charset="-122"/>
                <a:cs typeface="Calibri" pitchFamily="34" charset="-120"/>
              </a:rPr>
              <a:t>(Nothing Gold Can Stay)</a:t>
            </a:r>
            <a:endParaRPr lang="en-US" sz="1800" dirty="0"/>
          </a:p>
          <a:p>
            <a:pPr indent="0" marL="0">
              <a:spcAft>
                <a:spcPts val="700"/>
              </a:spcAft>
              <a:buNone/>
            </a:pPr>
            <a:r>
              <a:rPr lang="en-US" sz="1800" b="1" dirty="0">
                <a:solidFill>
                  <a:schemeClr val="accent1"/>
                </a:solidFill>
                <a:latin typeface="Georgia" pitchFamily="34" charset="0"/>
                <a:ea typeface="Georgia" pitchFamily="34" charset="-122"/>
                <a:cs typeface="Georgia" pitchFamily="34" charset="-120"/>
              </a:rPr>
              <a:t>sinews</a:t>
            </a:r>
            <a:pPr indent="0" marL="0">
              <a:spcAft>
                <a:spcPts val="700"/>
              </a:spcAft>
              <a:buNone/>
            </a:pPr>
            <a:r>
              <a:rPr lang="en-US" sz="1800" dirty="0">
                <a:solidFill>
                  <a:schemeClr val="tx1"/>
                </a:solidFill>
                <a:latin typeface="Calibri" pitchFamily="34" charset="0"/>
                <a:ea typeface="Calibri" pitchFamily="34" charset="-122"/>
                <a:cs typeface="Calibri" pitchFamily="34" charset="-120"/>
              </a:rPr>
              <a:t> – the tough cords that join muscles to bones </a:t>
            </a:r>
            <a:pPr indent="0" marL="0">
              <a:spcAft>
                <a:spcPts val="700"/>
              </a:spcAft>
              <a:buNone/>
            </a:pPr>
            <a:r>
              <a:rPr lang="en-US" sz="1800" i="1" dirty="0">
                <a:solidFill>
                  <a:schemeClr val="accent5"/>
                </a:solidFill>
                <a:latin typeface="Calibri" pitchFamily="34" charset="0"/>
                <a:ea typeface="Calibri" pitchFamily="34" charset="-122"/>
                <a:cs typeface="Calibri" pitchFamily="34" charset="-120"/>
              </a:rPr>
              <a:t>(The Tyger)</a:t>
            </a:r>
            <a:endParaRPr lang="en-US" sz="1800" dirty="0"/>
          </a:p>
          <a:p>
            <a:pPr indent="0" marL="0">
              <a:spcAft>
                <a:spcPts val="700"/>
              </a:spcAft>
              <a:buNone/>
            </a:pPr>
            <a:r>
              <a:rPr lang="en-US" sz="1800" b="1" dirty="0">
                <a:solidFill>
                  <a:schemeClr val="accent1"/>
                </a:solidFill>
                <a:latin typeface="Georgia" pitchFamily="34" charset="0"/>
                <a:ea typeface="Georgia" pitchFamily="34" charset="-122"/>
                <a:cs typeface="Georgia" pitchFamily="34" charset="-120"/>
              </a:rPr>
              <a:t>winnowing</a:t>
            </a:r>
            <a:pPr indent="0" marL="0">
              <a:spcAft>
                <a:spcPts val="700"/>
              </a:spcAft>
              <a:buNone/>
            </a:pPr>
            <a:r>
              <a:rPr lang="en-US" sz="1800" dirty="0">
                <a:solidFill>
                  <a:schemeClr val="tx1"/>
                </a:solidFill>
                <a:latin typeface="Calibri" pitchFamily="34" charset="0"/>
                <a:ea typeface="Calibri" pitchFamily="34" charset="-122"/>
                <a:cs typeface="Calibri" pitchFamily="34" charset="-120"/>
              </a:rPr>
              <a:t> – blowing the light husks away from the grain </a:t>
            </a:r>
            <a:pPr indent="0" marL="0">
              <a:spcAft>
                <a:spcPts val="700"/>
              </a:spcAft>
              <a:buNone/>
            </a:pPr>
            <a:r>
              <a:rPr lang="en-US" sz="1800" i="1" dirty="0">
                <a:solidFill>
                  <a:schemeClr val="accent5"/>
                </a:solidFill>
                <a:latin typeface="Calibri" pitchFamily="34" charset="0"/>
                <a:ea typeface="Calibri" pitchFamily="34" charset="-122"/>
                <a:cs typeface="Calibri" pitchFamily="34" charset="-120"/>
              </a:rPr>
              <a:t>(To Autumn)</a:t>
            </a:r>
            <a:endParaRPr lang="en-US" sz="1800" dirty="0"/>
          </a:p>
        </p:txBody>
      </p:sp>
      <p:pic>
        <p:nvPicPr>
          <p:cNvPr id="5" name="Book picture" descr="An open book">    </p:cNvPr>
          <p:cNvPicPr>
            <a:picLocks noChangeAspect="1"/>
          </p:cNvPicPr>
          <p:nvPr/>
        </p:nvPicPr>
        <p:blipFill>
          <a:blip r:embed="rId1"/>
          <a:stretch>
            <a:fillRect/>
          </a:stretch>
        </p:blipFill>
        <p:spPr>
          <a:xfrm>
            <a:off x="8778240" y="914400"/>
            <a:ext cx="2971800" cy="5120640"/>
          </a:xfrm>
          <a:prstGeom prst="rect">
            <a:avLst/>
          </a:prstGeom>
        </p:spPr>
      </p:pic>
      <p:sp>
        <p:nvSpPr>
          <p:cNvPr id="25" name="Slide Number Placeholder 0"/>
          <p:cNvSpPr>
            <a:spLocks noGrp="1"/>
          </p:cNvSpPr>
          <p:nvPr>
            <p:ph type="sldNum" sz="quarter" idx="4294967295"/>
          </p:nvPr>
        </p:nvSpPr>
        <p:spPr>
          <a:xfrm>
            <a:off x="11338560" y="6565392"/>
            <a:ext cx="548640" cy="22860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Poetry Anthology">
  <a:themeElements>
    <a:clrScheme name="Poetry Anthology">
      <a:dk1>
        <a:srgbClr val="2B2B2B"/>
      </a:dk1>
      <a:lt1>
        <a:srgbClr val="FFFFFF"/>
      </a:lt1>
      <a:dk2>
        <a:srgbClr val="3E6B3A"/>
      </a:dk2>
      <a:lt2>
        <a:srgbClr val="F4EBDD"/>
      </a:lt2>
      <a:accent1>
        <a:srgbClr val="C8702A"/>
      </a:accent1>
      <a:accent2>
        <a:srgbClr val="1F3A5F"/>
      </a:accent2>
      <a:accent3>
        <a:srgbClr val="5C3D2E"/>
      </a:accent3>
      <a:accent4>
        <a:srgbClr val="E6ECF3"/>
      </a:accent4>
      <a:accent5>
        <a:srgbClr val="6E6E6E"/>
      </a:accent5>
      <a:accent6>
        <a:srgbClr val="8CBF6C"/>
      </a:accent6>
      <a:hlink>
        <a:srgbClr val="1F3A5F"/>
      </a:hlink>
      <a:folHlink>
        <a:srgbClr val="5C3D2E"/>
      </a:folHlink>
    </a:clrScheme>
    <a:fontScheme name="Poetry Antholog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Poetry Anthology</dc:title>
  <dc:subject>Poetry Anthology</dc:subject>
  <dc:creator>Lanzi Wang</dc:creator>
  <cp:lastModifiedBy>Lanzi Wang</cp:lastModifiedBy>
  <cp:revision>1</cp:revision>
  <dcterms:created xsi:type="dcterms:W3CDTF">2026-10-02T16:24:34Z</dcterms:created>
  <dcterms:modified xsi:type="dcterms:W3CDTF">2026-10-02T16:24:34Z</dcterms:modified>
</cp:coreProperties>
</file>